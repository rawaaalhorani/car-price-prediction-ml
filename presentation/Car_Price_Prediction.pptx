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1E2761"/>
                </a:solidFill>
                <a:latin typeface="Calibri" panose="020F0502020204030204"/>
                <a:ea typeface="+mn-ea"/>
                <a:cs typeface="+mn-cs"/>
              </a:defRPr>
            </a:pPr>
            <a:r>
              <a:rPr sz="1400" b="0" i="0" u="none" strike="noStrike">
                <a:solidFill>
                  <a:srgbClr val="1E2761"/>
                </a:solidFill>
                <a:latin typeface="Calibri" panose="020F0502020204030204"/>
              </a:rPr>
              <a:t>R² Score by Model</a:t>
            </a:r>
            <a:endParaRPr sz="1400" b="0" i="0" u="none" strike="noStrike">
              <a:solidFill>
                <a:srgbClr val="1E2761"/>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CADCFC"/>
            </a:solidFill>
            <a:effectLst/>
          </c:spPr>
          <c:invertIfNegative val="0"/>
          <c:dPt>
            <c:idx val="0"/>
            <c:invertIfNegative val="0"/>
            <c:bubble3D val="0"/>
            <c:spPr>
              <a:solidFill>
                <a:srgbClr val="CADCFC"/>
              </a:solidFill>
              <a:effectLst/>
            </c:spPr>
          </c:dPt>
          <c:dPt>
            <c:idx val="1"/>
            <c:invertIfNegative val="0"/>
            <c:bubble3D val="0"/>
            <c:spPr>
              <a:solidFill>
                <a:srgbClr val="CADCFC"/>
              </a:solidFill>
              <a:effectLst/>
            </c:spPr>
          </c:dPt>
          <c:dPt>
            <c:idx val="2"/>
            <c:invertIfNegative val="0"/>
            <c:bubble3D val="0"/>
            <c:spPr>
              <a:solidFill>
                <a:srgbClr val="CADCFC"/>
              </a:solidFill>
              <a:effectLst/>
            </c:spPr>
          </c:dPt>
          <c:dPt>
            <c:idx val="3"/>
            <c:invertIfNegative val="0"/>
            <c:bubble3D val="0"/>
            <c:spPr>
              <a:solidFill>
                <a:srgbClr val="F2A93B"/>
              </a:solidFill>
              <a:effectLst/>
            </c:spPr>
          </c:dPt>
          <c:dLbls>
            <c:numFmt formatCode="0.000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232B45"/>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Linear Regression</c:v>
                </c:pt>
                <c:pt idx="1">
                  <c:v>Random Forest</c:v>
                </c:pt>
                <c:pt idx="2">
                  <c:v>Gradient Boosting</c:v>
                </c:pt>
                <c:pt idx="3">
                  <c:v>CatBoost</c:v>
                </c:pt>
              </c:strCache>
            </c:strRef>
          </c:cat>
          <c:val>
            <c:numRef>
              <c:f>Sheet1!$B$2:$B$5</c:f>
              <c:numCache>
                <c:formatCode>General</c:formatCode>
                <c:ptCount val="4"/>
                <c:pt idx="0">
                  <c:v>0.7478</c:v>
                </c:pt>
                <c:pt idx="1">
                  <c:v>0.7053</c:v>
                </c:pt>
                <c:pt idx="2">
                  <c:v>0.7362</c:v>
                </c:pt>
                <c:pt idx="3">
                  <c:v>0.7556</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232B45"/>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85"/>
          <c:min val="0"/>
        </c:scaling>
        <c:delete val="0"/>
        <c:axPos val="l"/>
        <c:majorGridlines>
          <c:spPr>
            <a:ln w="12700" cap="flat" cmpd="sng" algn="ctr">
              <a:solidFill>
                <a:srgbClr val="E4E7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232B45"/>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3d662f4-8fb5-4032-87db-253c9e561e3e}"/>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p:spPr>
      </p:sp>
      <p:pic>
        <p:nvPicPr>
          <p:cNvPr id="3" name="Image 0" descr="/home/claude/work/icons/car_navy.png"/>
          <p:cNvPicPr>
            <a:picLocks noChangeAspect="1"/>
          </p:cNvPicPr>
          <p:nvPr/>
        </p:nvPicPr>
        <p:blipFill>
          <a:blip r:embed="rId1">
            <a:alphaModFix amt="45000"/>
          </a:blip>
          <a:stretch>
            <a:fillRect/>
          </a:stretch>
        </p:blipFill>
        <p:spPr>
          <a:xfrm>
            <a:off x="8778240" y="4206240"/>
            <a:ext cx="2926080" cy="2926080"/>
          </a:xfrm>
          <a:prstGeom prst="rect">
            <a:avLst/>
          </a:prstGeom>
        </p:spPr>
      </p:pic>
      <p:sp>
        <p:nvSpPr>
          <p:cNvPr id="4" name="Text 1"/>
          <p:cNvSpPr/>
          <p:nvPr/>
        </p:nvSpPr>
        <p:spPr>
          <a:xfrm>
            <a:off x="640080" y="640080"/>
            <a:ext cx="10515600" cy="365760"/>
          </a:xfrm>
          <a:prstGeom prst="rect">
            <a:avLst/>
          </a:prstGeom>
          <a:noFill/>
        </p:spPr>
        <p:txBody>
          <a:bodyPr wrap="square" rtlCol="0" anchor="ctr"/>
          <a:lstStyle/>
          <a:p>
            <a:pPr marL="0" indent="0">
              <a:buNone/>
            </a:pPr>
            <a:r>
              <a:rPr lang="en-US" sz="12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YARMOUK UNIVERSITY  •  FACULTY OF COMPUTER SCIENCE AND INFORMATION TECHNOLOGY</a:t>
            </a:r>
            <a:endParaRPr lang="en-US" sz="1200" dirty="0"/>
          </a:p>
        </p:txBody>
      </p:sp>
      <p:sp>
        <p:nvSpPr>
          <p:cNvPr id="5" name="Text 2"/>
          <p:cNvSpPr/>
          <p:nvPr/>
        </p:nvSpPr>
        <p:spPr>
          <a:xfrm>
            <a:off x="640080" y="1920240"/>
            <a:ext cx="9601200" cy="1005840"/>
          </a:xfrm>
          <a:prstGeom prst="rect">
            <a:avLst/>
          </a:prstGeom>
          <a:noFill/>
        </p:spPr>
        <p:txBody>
          <a:bodyPr wrap="square"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Car Price Prediction</a:t>
            </a:r>
            <a:endParaRPr lang="en-US" sz="4400" dirty="0"/>
          </a:p>
        </p:txBody>
      </p:sp>
      <p:sp>
        <p:nvSpPr>
          <p:cNvPr id="6" name="Text 3"/>
          <p:cNvSpPr/>
          <p:nvPr/>
        </p:nvSpPr>
        <p:spPr>
          <a:xfrm>
            <a:off x="640080" y="2697480"/>
            <a:ext cx="9601200" cy="731520"/>
          </a:xfrm>
          <a:prstGeom prst="rect">
            <a:avLst/>
          </a:prstGeom>
          <a:noFill/>
        </p:spPr>
        <p:txBody>
          <a:bodyPr wrap="square" rtlCol="0" anchor="ctr"/>
          <a:lstStyle/>
          <a:p>
            <a:pPr marL="0" indent="0">
              <a:buNone/>
            </a:pPr>
            <a:r>
              <a:rPr lang="en-US" sz="2800" dirty="0">
                <a:solidFill>
                  <a:srgbClr val="CADCFC"/>
                </a:solidFill>
                <a:latin typeface="Cambria" panose="02040503050406030204" pitchFamily="34" charset="0"/>
                <a:ea typeface="Cambria" panose="02040503050406030204" pitchFamily="34" charset="-122"/>
                <a:cs typeface="Cambria" panose="02040503050406030204" pitchFamily="34" charset="-120"/>
              </a:rPr>
              <a:t>Using Machine Learning</a:t>
            </a:r>
            <a:endParaRPr lang="en-US" sz="2800" dirty="0"/>
          </a:p>
        </p:txBody>
      </p:sp>
      <p:sp>
        <p:nvSpPr>
          <p:cNvPr id="7" name="Text 4"/>
          <p:cNvSpPr/>
          <p:nvPr/>
        </p:nvSpPr>
        <p:spPr>
          <a:xfrm>
            <a:off x="640080" y="3566160"/>
            <a:ext cx="7315200" cy="365760"/>
          </a:xfrm>
          <a:prstGeom prst="rect">
            <a:avLst/>
          </a:prstGeom>
          <a:noFill/>
        </p:spPr>
        <p:txBody>
          <a:bodyPr wrap="square" rtlCol="0" anchor="ctr"/>
          <a:lstStyle/>
          <a:p>
            <a:pPr marL="0" indent="0">
              <a:buNone/>
            </a:pPr>
            <a:r>
              <a:rPr lang="en-US" sz="1500" i="1" dirty="0">
                <a:solidFill>
                  <a:srgbClr val="CADCFC"/>
                </a:solidFill>
                <a:latin typeface="Calibri" panose="020F0502020204030204" pitchFamily="34" charset="0"/>
                <a:ea typeface="Calibri" panose="020F0502020204030204" pitchFamily="34" charset="-122"/>
                <a:cs typeface="Calibri" panose="020F0502020204030204" pitchFamily="34" charset="-120"/>
              </a:rPr>
              <a:t>DA220 — Machine Learning Project</a:t>
            </a:r>
            <a:endParaRPr lang="en-US" sz="1500" dirty="0"/>
          </a:p>
        </p:txBody>
      </p:sp>
      <p:sp>
        <p:nvSpPr>
          <p:cNvPr id="8" name="Shape 5"/>
          <p:cNvSpPr/>
          <p:nvPr/>
        </p:nvSpPr>
        <p:spPr>
          <a:xfrm>
            <a:off x="822960" y="4206240"/>
            <a:ext cx="6949440" cy="1737360"/>
          </a:xfrm>
          <a:prstGeom prst="roundRect">
            <a:avLst>
              <a:gd name="adj" fmla="val 4211"/>
            </a:avLst>
          </a:prstGeom>
          <a:solidFill>
            <a:srgbClr val="263173"/>
          </a:solidFill>
        </p:spPr>
      </p:sp>
      <p:sp>
        <p:nvSpPr>
          <p:cNvPr id="9" name="Text 6"/>
          <p:cNvSpPr/>
          <p:nvPr/>
        </p:nvSpPr>
        <p:spPr>
          <a:xfrm>
            <a:off x="914400" y="4343400"/>
            <a:ext cx="5486400" cy="320040"/>
          </a:xfrm>
          <a:prstGeom prst="rect">
            <a:avLst/>
          </a:prstGeom>
          <a:noFill/>
        </p:spPr>
        <p:txBody>
          <a:bodyPr wrap="square" rtlCol="0" anchor="ctr"/>
          <a:lstStyle/>
          <a:p>
            <a:pPr marL="0" indent="0">
              <a:buNone/>
            </a:pPr>
            <a:endParaRPr lang="en-US" sz="1300" dirty="0"/>
          </a:p>
        </p:txBody>
      </p:sp>
      <p:sp>
        <p:nvSpPr>
          <p:cNvPr id="10" name="Text 7"/>
          <p:cNvSpPr/>
          <p:nvPr/>
        </p:nvSpPr>
        <p:spPr>
          <a:xfrm>
            <a:off x="914400" y="4926965"/>
            <a:ext cx="6400800" cy="1188720"/>
          </a:xfrm>
          <a:prstGeom prst="rect">
            <a:avLst/>
          </a:prstGeom>
          <a:noFill/>
        </p:spPr>
        <p:txBody>
          <a:bodyPr wrap="square" rtlCol="0" anchor="ctr"/>
          <a:lstStyle/>
          <a:p>
            <a:pPr marL="0" indent="0">
              <a:lnSpc>
                <a:spcPct val="130000"/>
              </a:lnSpc>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روعه حسن الحوراني  —  </a:t>
            </a:r>
            <a:r>
              <a:rPr lang="ar-JO" alt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2023057048</a:t>
            </a:r>
            <a:endParaRPr lang="ar-JO" alt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The Problem</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400" i="1" dirty="0">
                <a:solidFill>
                  <a:srgbClr val="5B6482"/>
                </a:solidFill>
                <a:latin typeface="Calibri" panose="020F0502020204030204" pitchFamily="34" charset="0"/>
                <a:ea typeface="Calibri" panose="020F0502020204030204" pitchFamily="34" charset="-122"/>
                <a:cs typeface="Calibri" panose="020F0502020204030204" pitchFamily="34" charset="-120"/>
              </a:rPr>
              <a:t>Used-car prices depend on many interacting factors</a:t>
            </a:r>
            <a:endParaRPr lang="en-US" sz="1400" dirty="0"/>
          </a:p>
        </p:txBody>
      </p:sp>
      <p:sp>
        <p:nvSpPr>
          <p:cNvPr id="4" name="Shape 2"/>
          <p:cNvSpPr/>
          <p:nvPr/>
        </p:nvSpPr>
        <p:spPr>
          <a:xfrm>
            <a:off x="548640" y="1874520"/>
            <a:ext cx="566928" cy="566928"/>
          </a:xfrm>
          <a:prstGeom prst="ellipse">
            <a:avLst/>
          </a:prstGeom>
          <a:solidFill>
            <a:srgbClr val="CADCFC"/>
          </a:solidFill>
        </p:spPr>
      </p:sp>
      <p:pic>
        <p:nvPicPr>
          <p:cNvPr id="5" name="Image 0" descr="/home/claude/work/icons/car_navy.png"/>
          <p:cNvPicPr>
            <a:picLocks noChangeAspect="1"/>
          </p:cNvPicPr>
          <p:nvPr/>
        </p:nvPicPr>
        <p:blipFill>
          <a:blip r:embed="rId1"/>
          <a:stretch>
            <a:fillRect/>
          </a:stretch>
        </p:blipFill>
        <p:spPr>
          <a:xfrm>
            <a:off x="685800" y="2011680"/>
            <a:ext cx="292608" cy="292608"/>
          </a:xfrm>
          <a:prstGeom prst="rect">
            <a:avLst/>
          </a:prstGeom>
        </p:spPr>
      </p:pic>
      <p:sp>
        <p:nvSpPr>
          <p:cNvPr id="6" name="Text 3"/>
          <p:cNvSpPr/>
          <p:nvPr/>
        </p:nvSpPr>
        <p:spPr>
          <a:xfrm>
            <a:off x="1371600" y="1828800"/>
            <a:ext cx="50292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Many characteristics drive price</a:t>
            </a:r>
            <a:endParaRPr lang="en-US" sz="1600" dirty="0"/>
          </a:p>
        </p:txBody>
      </p:sp>
      <p:sp>
        <p:nvSpPr>
          <p:cNvPr id="7" name="Text 4"/>
          <p:cNvSpPr/>
          <p:nvPr/>
        </p:nvSpPr>
        <p:spPr>
          <a:xfrm>
            <a:off x="1371600" y="2194560"/>
            <a:ext cx="6035040" cy="822960"/>
          </a:xfrm>
          <a:prstGeom prst="rect">
            <a:avLst/>
          </a:prstGeom>
          <a:noFill/>
        </p:spPr>
        <p:txBody>
          <a:bodyPr wrap="square" rtlCol="0" anchor="ctr"/>
          <a:lstStyle/>
          <a:p>
            <a:pPr marL="0" indent="0">
              <a:lnSpc>
                <a:spcPct val="120000"/>
              </a:lnSpc>
              <a:buNone/>
            </a:pPr>
            <a:r>
              <a:rPr lang="en-US" sz="1400" dirty="0">
                <a:solidFill>
                  <a:srgbClr val="232B45"/>
                </a:solidFill>
                <a:latin typeface="Calibri" panose="020F0502020204030204" pitchFamily="34" charset="0"/>
                <a:ea typeface="Calibri" panose="020F0502020204030204" pitchFamily="34" charset="-122"/>
                <a:cs typeface="Calibri" panose="020F0502020204030204" pitchFamily="34" charset="-120"/>
              </a:rPr>
              <a:t>Manufacturing year, kilometers driven, fuel type, seller type, transmission, ownership, company, and model all affect how a used car is priced.</a:t>
            </a:r>
            <a:endParaRPr lang="en-US" sz="1400" dirty="0"/>
          </a:p>
        </p:txBody>
      </p:sp>
      <p:sp>
        <p:nvSpPr>
          <p:cNvPr id="8" name="Shape 5"/>
          <p:cNvSpPr/>
          <p:nvPr/>
        </p:nvSpPr>
        <p:spPr>
          <a:xfrm>
            <a:off x="548640" y="3383280"/>
            <a:ext cx="566928" cy="566928"/>
          </a:xfrm>
          <a:prstGeom prst="ellipse">
            <a:avLst/>
          </a:prstGeom>
          <a:solidFill>
            <a:srgbClr val="CADCFC"/>
          </a:solidFill>
        </p:spPr>
      </p:sp>
      <p:pic>
        <p:nvPicPr>
          <p:cNvPr id="9" name="Image 1" descr="/home/claude/work/icons/target_navy.png"/>
          <p:cNvPicPr>
            <a:picLocks noChangeAspect="1"/>
          </p:cNvPicPr>
          <p:nvPr/>
        </p:nvPicPr>
        <p:blipFill>
          <a:blip r:embed="rId2"/>
          <a:stretch>
            <a:fillRect/>
          </a:stretch>
        </p:blipFill>
        <p:spPr>
          <a:xfrm>
            <a:off x="685800" y="3520440"/>
            <a:ext cx="292608" cy="292608"/>
          </a:xfrm>
          <a:prstGeom prst="rect">
            <a:avLst/>
          </a:prstGeom>
        </p:spPr>
      </p:pic>
      <p:sp>
        <p:nvSpPr>
          <p:cNvPr id="10" name="Text 6"/>
          <p:cNvSpPr/>
          <p:nvPr/>
        </p:nvSpPr>
        <p:spPr>
          <a:xfrm>
            <a:off x="1371600" y="3337560"/>
            <a:ext cx="50292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Goal</a:t>
            </a:r>
            <a:endParaRPr lang="en-US" sz="1600" dirty="0"/>
          </a:p>
        </p:txBody>
      </p:sp>
      <p:sp>
        <p:nvSpPr>
          <p:cNvPr id="11" name="Text 7"/>
          <p:cNvSpPr/>
          <p:nvPr/>
        </p:nvSpPr>
        <p:spPr>
          <a:xfrm>
            <a:off x="1371600" y="3703320"/>
            <a:ext cx="9966960" cy="822960"/>
          </a:xfrm>
          <a:prstGeom prst="rect">
            <a:avLst/>
          </a:prstGeom>
          <a:noFill/>
        </p:spPr>
        <p:txBody>
          <a:bodyPr wrap="square" rtlCol="0" anchor="ctr"/>
          <a:lstStyle/>
          <a:p>
            <a:pPr marL="0" indent="0">
              <a:lnSpc>
                <a:spcPct val="120000"/>
              </a:lnSpc>
              <a:buNone/>
            </a:pPr>
            <a:r>
              <a:rPr lang="en-US" sz="1400" dirty="0">
                <a:solidFill>
                  <a:srgbClr val="232B45"/>
                </a:solidFill>
                <a:latin typeface="Calibri" panose="020F0502020204030204" pitchFamily="34" charset="0"/>
                <a:ea typeface="Calibri" panose="020F0502020204030204" pitchFamily="34" charset="-122"/>
                <a:cs typeface="Calibri" panose="020F0502020204030204" pitchFamily="34" charset="-120"/>
              </a:rPr>
              <a:t>Build regression models that predict a used car's selling price from its characteristics, then compare models to find the best performer.</a:t>
            </a:r>
            <a:endParaRPr lang="en-US" sz="1400" dirty="0"/>
          </a:p>
        </p:txBody>
      </p:sp>
      <p:sp>
        <p:nvSpPr>
          <p:cNvPr id="12" name="Shape 8"/>
          <p:cNvSpPr/>
          <p:nvPr/>
        </p:nvSpPr>
        <p:spPr>
          <a:xfrm>
            <a:off x="548640" y="4892040"/>
            <a:ext cx="566928" cy="566928"/>
          </a:xfrm>
          <a:prstGeom prst="ellipse">
            <a:avLst/>
          </a:prstGeom>
          <a:solidFill>
            <a:srgbClr val="CADCFC"/>
          </a:solidFill>
        </p:spPr>
      </p:sp>
      <p:pic>
        <p:nvPicPr>
          <p:cNvPr id="13" name="Image 2" descr="/home/claude/work/icons/chart_navy.png"/>
          <p:cNvPicPr>
            <a:picLocks noChangeAspect="1"/>
          </p:cNvPicPr>
          <p:nvPr/>
        </p:nvPicPr>
        <p:blipFill>
          <a:blip r:embed="rId3"/>
          <a:stretch>
            <a:fillRect/>
          </a:stretch>
        </p:blipFill>
        <p:spPr>
          <a:xfrm>
            <a:off x="685800" y="5029200"/>
            <a:ext cx="292608" cy="292608"/>
          </a:xfrm>
          <a:prstGeom prst="rect">
            <a:avLst/>
          </a:prstGeom>
        </p:spPr>
      </p:pic>
      <p:sp>
        <p:nvSpPr>
          <p:cNvPr id="14" name="Text 9"/>
          <p:cNvSpPr/>
          <p:nvPr/>
        </p:nvSpPr>
        <p:spPr>
          <a:xfrm>
            <a:off x="1371600" y="4846320"/>
            <a:ext cx="50292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Hypothesis</a:t>
            </a:r>
            <a:endParaRPr lang="en-US" sz="1600" dirty="0"/>
          </a:p>
        </p:txBody>
      </p:sp>
      <p:sp>
        <p:nvSpPr>
          <p:cNvPr id="15" name="Text 10"/>
          <p:cNvSpPr/>
          <p:nvPr/>
        </p:nvSpPr>
        <p:spPr>
          <a:xfrm>
            <a:off x="1371600" y="5212080"/>
            <a:ext cx="9966960" cy="822960"/>
          </a:xfrm>
          <a:prstGeom prst="rect">
            <a:avLst/>
          </a:prstGeom>
          <a:noFill/>
        </p:spPr>
        <p:txBody>
          <a:bodyPr wrap="square" rtlCol="0" anchor="ctr"/>
          <a:lstStyle/>
          <a:p>
            <a:pPr marL="0" indent="0">
              <a:lnSpc>
                <a:spcPct val="120000"/>
              </a:lnSpc>
              <a:buNone/>
            </a:pPr>
            <a:r>
              <a:rPr lang="en-US" sz="1400" dirty="0">
                <a:solidFill>
                  <a:srgbClr val="232B45"/>
                </a:solidFill>
                <a:latin typeface="Calibri" panose="020F0502020204030204" pitchFamily="34" charset="0"/>
                <a:ea typeface="Calibri" panose="020F0502020204030204" pitchFamily="34" charset="-122"/>
                <a:cs typeface="Calibri" panose="020F0502020204030204" pitchFamily="34" charset="-120"/>
              </a:rPr>
              <a:t>Car characteristics have a learnable relationship with selling price — machine learning models can capture this pattern and produce reasonable price estimates.</a:t>
            </a:r>
            <a:endParaRPr lang="en-US" sz="1400" dirty="0"/>
          </a:p>
        </p:txBody>
      </p:sp>
      <p:sp>
        <p:nvSpPr>
          <p:cNvPr id="16" name="Shape 11"/>
          <p:cNvSpPr/>
          <p:nvPr/>
        </p:nvSpPr>
        <p:spPr>
          <a:xfrm>
            <a:off x="7772400" y="1600200"/>
            <a:ext cx="3794760" cy="1371600"/>
          </a:xfrm>
          <a:prstGeom prst="roundRect">
            <a:avLst>
              <a:gd name="adj" fmla="val 4667"/>
            </a:avLst>
          </a:prstGeom>
          <a:solidFill>
            <a:srgbClr val="1E2761"/>
          </a:solidFill>
        </p:spPr>
      </p:sp>
      <p:sp>
        <p:nvSpPr>
          <p:cNvPr id="17" name="Text 12"/>
          <p:cNvSpPr/>
          <p:nvPr/>
        </p:nvSpPr>
        <p:spPr>
          <a:xfrm>
            <a:off x="8001000" y="1709928"/>
            <a:ext cx="3291840" cy="274320"/>
          </a:xfrm>
          <a:prstGeom prst="rect">
            <a:avLst/>
          </a:prstGeom>
          <a:noFill/>
        </p:spPr>
        <p:txBody>
          <a:bodyPr wrap="square" rtlCol="0" anchor="ctr"/>
          <a:lstStyle/>
          <a:p>
            <a:pPr marL="0" indent="0">
              <a:buNone/>
            </a:pPr>
            <a:r>
              <a:rPr lang="en-US" sz="1200" b="1" dirty="0">
                <a:solidFill>
                  <a:srgbClr val="F2A93B"/>
                </a:solidFill>
                <a:latin typeface="Calibri" panose="020F0502020204030204" pitchFamily="34" charset="0"/>
                <a:ea typeface="Calibri" panose="020F0502020204030204" pitchFamily="34" charset="-122"/>
                <a:cs typeface="Calibri" panose="020F0502020204030204" pitchFamily="34" charset="-120"/>
              </a:rPr>
              <a:t>Problem Type</a:t>
            </a:r>
            <a:endParaRPr lang="en-US" sz="1200" dirty="0"/>
          </a:p>
        </p:txBody>
      </p:sp>
      <p:sp>
        <p:nvSpPr>
          <p:cNvPr id="18" name="Text 13"/>
          <p:cNvSpPr/>
          <p:nvPr/>
        </p:nvSpPr>
        <p:spPr>
          <a:xfrm>
            <a:off x="8001000" y="2011680"/>
            <a:ext cx="3383280" cy="914400"/>
          </a:xfrm>
          <a:prstGeom prst="rect">
            <a:avLst/>
          </a:prstGeom>
          <a:noFill/>
        </p:spPr>
        <p:txBody>
          <a:bodyPr wrap="square" rtlCol="0" anchor="ctr"/>
          <a:lstStyle/>
          <a:p>
            <a:pPr marL="0" indent="0">
              <a:lnSpc>
                <a:spcPct val="130000"/>
              </a:lnSpc>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Supervised Learning
</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Regression
</a:t>
            </a: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Target: selling_price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The Data</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400" i="1" dirty="0">
                <a:solidFill>
                  <a:srgbClr val="5B6482"/>
                </a:solidFill>
                <a:latin typeface="Calibri" panose="020F0502020204030204" pitchFamily="34" charset="0"/>
                <a:ea typeface="Calibri" panose="020F0502020204030204" pitchFamily="34" charset="-122"/>
                <a:cs typeface="Calibri" panose="020F0502020204030204" pitchFamily="34" charset="-120"/>
              </a:rPr>
              <a:t>Kaggle used-car dataset — Indian market, prices in INR</a:t>
            </a:r>
            <a:endParaRPr lang="en-US" sz="1400" dirty="0"/>
          </a:p>
        </p:txBody>
      </p:sp>
      <p:sp>
        <p:nvSpPr>
          <p:cNvPr id="4" name="Shape 2"/>
          <p:cNvSpPr/>
          <p:nvPr/>
        </p:nvSpPr>
        <p:spPr>
          <a:xfrm>
            <a:off x="548640" y="1600200"/>
            <a:ext cx="2286000" cy="1463040"/>
          </a:xfrm>
          <a:prstGeom prst="roundRect">
            <a:avLst>
              <a:gd name="adj" fmla="val 5000"/>
            </a:avLst>
          </a:prstGeom>
          <a:solidFill>
            <a:srgbClr val="CADCFC"/>
          </a:solidFill>
        </p:spPr>
      </p:sp>
      <p:sp>
        <p:nvSpPr>
          <p:cNvPr id="5" name="Text 3"/>
          <p:cNvSpPr/>
          <p:nvPr/>
        </p:nvSpPr>
        <p:spPr>
          <a:xfrm>
            <a:off x="548640" y="1737360"/>
            <a:ext cx="2286000" cy="731520"/>
          </a:xfrm>
          <a:prstGeom prst="rect">
            <a:avLst/>
          </a:prstGeom>
          <a:noFill/>
        </p:spPr>
        <p:txBody>
          <a:bodyPr wrap="square" rtlCol="0" anchor="ctr"/>
          <a:lstStyle/>
          <a:p>
            <a:pPr marL="0" indent="0" algn="ctr">
              <a:buNone/>
            </a:pPr>
            <a:r>
              <a:rPr lang="en-US" sz="3400" b="1" dirty="0">
                <a:solidFill>
                  <a:srgbClr val="1E2761"/>
                </a:solidFill>
                <a:latin typeface="Cambria" panose="02040503050406030204" pitchFamily="34" charset="0"/>
                <a:ea typeface="Cambria" panose="02040503050406030204" pitchFamily="34" charset="-122"/>
                <a:cs typeface="Cambria" panose="02040503050406030204" pitchFamily="34" charset="-120"/>
              </a:rPr>
              <a:t>4,340</a:t>
            </a:r>
            <a:endParaRPr lang="en-US" sz="3400" dirty="0"/>
          </a:p>
        </p:txBody>
      </p:sp>
      <p:sp>
        <p:nvSpPr>
          <p:cNvPr id="6" name="Text 4"/>
          <p:cNvSpPr/>
          <p:nvPr/>
        </p:nvSpPr>
        <p:spPr>
          <a:xfrm>
            <a:off x="548640" y="2423160"/>
            <a:ext cx="2286000" cy="457200"/>
          </a:xfrm>
          <a:prstGeom prst="rect">
            <a:avLst/>
          </a:prstGeom>
          <a:noFill/>
        </p:spPr>
        <p:txBody>
          <a:bodyPr wrap="square" rtlCol="0" anchor="ctr"/>
          <a:lstStyle/>
          <a:p>
            <a:pPr marL="0" indent="0" algn="ctr">
              <a:buNone/>
            </a:pPr>
            <a:r>
              <a:rPr lang="en-US" sz="1300" dirty="0">
                <a:solidFill>
                  <a:srgbClr val="232B45"/>
                </a:solidFill>
                <a:latin typeface="Calibri" panose="020F0502020204030204" pitchFamily="34" charset="0"/>
                <a:ea typeface="Calibri" panose="020F0502020204030204" pitchFamily="34" charset="-122"/>
                <a:cs typeface="Calibri" panose="020F0502020204030204" pitchFamily="34" charset="-120"/>
              </a:rPr>
              <a:t>Records</a:t>
            </a:r>
            <a:endParaRPr lang="en-US" sz="1300" dirty="0"/>
          </a:p>
        </p:txBody>
      </p:sp>
      <p:sp>
        <p:nvSpPr>
          <p:cNvPr id="7" name="Shape 5"/>
          <p:cNvSpPr/>
          <p:nvPr/>
        </p:nvSpPr>
        <p:spPr>
          <a:xfrm>
            <a:off x="3063240" y="1600200"/>
            <a:ext cx="2286000" cy="1463040"/>
          </a:xfrm>
          <a:prstGeom prst="roundRect">
            <a:avLst>
              <a:gd name="adj" fmla="val 5000"/>
            </a:avLst>
          </a:prstGeom>
          <a:solidFill>
            <a:srgbClr val="CADCFC"/>
          </a:solidFill>
        </p:spPr>
      </p:sp>
      <p:sp>
        <p:nvSpPr>
          <p:cNvPr id="8" name="Text 6"/>
          <p:cNvSpPr/>
          <p:nvPr/>
        </p:nvSpPr>
        <p:spPr>
          <a:xfrm>
            <a:off x="3063240" y="1737360"/>
            <a:ext cx="2286000" cy="731520"/>
          </a:xfrm>
          <a:prstGeom prst="rect">
            <a:avLst/>
          </a:prstGeom>
          <a:noFill/>
        </p:spPr>
        <p:txBody>
          <a:bodyPr wrap="square" rtlCol="0" anchor="ctr"/>
          <a:lstStyle/>
          <a:p>
            <a:pPr marL="0" indent="0" algn="ctr">
              <a:buNone/>
            </a:pPr>
            <a:r>
              <a:rPr lang="en-US" sz="3400" b="1" dirty="0">
                <a:solidFill>
                  <a:srgbClr val="1E2761"/>
                </a:solidFill>
                <a:latin typeface="Cambria" panose="02040503050406030204" pitchFamily="34" charset="0"/>
                <a:ea typeface="Cambria" panose="02040503050406030204" pitchFamily="34" charset="-122"/>
                <a:cs typeface="Cambria" panose="02040503050406030204" pitchFamily="34" charset="-120"/>
              </a:rPr>
              <a:t>8</a:t>
            </a:r>
            <a:endParaRPr lang="en-US" sz="3400" dirty="0"/>
          </a:p>
        </p:txBody>
      </p:sp>
      <p:sp>
        <p:nvSpPr>
          <p:cNvPr id="9" name="Text 7"/>
          <p:cNvSpPr/>
          <p:nvPr/>
        </p:nvSpPr>
        <p:spPr>
          <a:xfrm>
            <a:off x="3063240" y="2423160"/>
            <a:ext cx="2286000" cy="457200"/>
          </a:xfrm>
          <a:prstGeom prst="rect">
            <a:avLst/>
          </a:prstGeom>
          <a:noFill/>
        </p:spPr>
        <p:txBody>
          <a:bodyPr wrap="square" rtlCol="0" anchor="ctr"/>
          <a:lstStyle/>
          <a:p>
            <a:pPr marL="0" indent="0" algn="ctr">
              <a:buNone/>
            </a:pPr>
            <a:r>
              <a:rPr lang="en-US" sz="1300" dirty="0">
                <a:solidFill>
                  <a:srgbClr val="232B45"/>
                </a:solidFill>
                <a:latin typeface="Calibri" panose="020F0502020204030204" pitchFamily="34" charset="0"/>
                <a:ea typeface="Calibri" panose="020F0502020204030204" pitchFamily="34" charset="-122"/>
                <a:cs typeface="Calibri" panose="020F0502020204030204" pitchFamily="34" charset="-120"/>
              </a:rPr>
              <a:t>Variables</a:t>
            </a:r>
            <a:endParaRPr lang="en-US" sz="1300" dirty="0"/>
          </a:p>
        </p:txBody>
      </p:sp>
      <p:sp>
        <p:nvSpPr>
          <p:cNvPr id="10" name="Shape 8"/>
          <p:cNvSpPr/>
          <p:nvPr/>
        </p:nvSpPr>
        <p:spPr>
          <a:xfrm>
            <a:off x="5577840" y="1600200"/>
            <a:ext cx="2286000" cy="1463040"/>
          </a:xfrm>
          <a:prstGeom prst="roundRect">
            <a:avLst>
              <a:gd name="adj" fmla="val 5000"/>
            </a:avLst>
          </a:prstGeom>
          <a:solidFill>
            <a:srgbClr val="CADCFC"/>
          </a:solidFill>
        </p:spPr>
      </p:sp>
      <p:sp>
        <p:nvSpPr>
          <p:cNvPr id="11" name="Text 9"/>
          <p:cNvSpPr/>
          <p:nvPr/>
        </p:nvSpPr>
        <p:spPr>
          <a:xfrm>
            <a:off x="5577840" y="1737360"/>
            <a:ext cx="2286000" cy="731520"/>
          </a:xfrm>
          <a:prstGeom prst="rect">
            <a:avLst/>
          </a:prstGeom>
          <a:noFill/>
        </p:spPr>
        <p:txBody>
          <a:bodyPr wrap="square" rtlCol="0" anchor="ctr"/>
          <a:lstStyle/>
          <a:p>
            <a:pPr marL="0" indent="0" algn="ctr">
              <a:buNone/>
            </a:pPr>
            <a:r>
              <a:rPr lang="en-US" sz="3400" b="1" dirty="0">
                <a:solidFill>
                  <a:srgbClr val="1E2761"/>
                </a:solidFill>
                <a:latin typeface="Cambria" panose="02040503050406030204" pitchFamily="34" charset="0"/>
                <a:ea typeface="Cambria" panose="02040503050406030204" pitchFamily="34" charset="-122"/>
                <a:cs typeface="Cambria" panose="02040503050406030204" pitchFamily="34" charset="-120"/>
              </a:rPr>
              <a:t>0</a:t>
            </a:r>
            <a:endParaRPr lang="en-US" sz="3400" dirty="0"/>
          </a:p>
        </p:txBody>
      </p:sp>
      <p:sp>
        <p:nvSpPr>
          <p:cNvPr id="12" name="Text 10"/>
          <p:cNvSpPr/>
          <p:nvPr/>
        </p:nvSpPr>
        <p:spPr>
          <a:xfrm>
            <a:off x="5577840" y="2423160"/>
            <a:ext cx="2286000" cy="457200"/>
          </a:xfrm>
          <a:prstGeom prst="rect">
            <a:avLst/>
          </a:prstGeom>
          <a:noFill/>
        </p:spPr>
        <p:txBody>
          <a:bodyPr wrap="square" rtlCol="0" anchor="ctr"/>
          <a:lstStyle/>
          <a:p>
            <a:pPr marL="0" indent="0" algn="ctr">
              <a:buNone/>
            </a:pPr>
            <a:r>
              <a:rPr lang="en-US" sz="1300" dirty="0">
                <a:solidFill>
                  <a:srgbClr val="232B45"/>
                </a:solidFill>
                <a:latin typeface="Calibri" panose="020F0502020204030204" pitchFamily="34" charset="0"/>
                <a:ea typeface="Calibri" panose="020F0502020204030204" pitchFamily="34" charset="-122"/>
                <a:cs typeface="Calibri" panose="020F0502020204030204" pitchFamily="34" charset="-120"/>
              </a:rPr>
              <a:t>Missing values</a:t>
            </a:r>
            <a:endParaRPr lang="en-US" sz="1300" dirty="0"/>
          </a:p>
        </p:txBody>
      </p:sp>
      <p:sp>
        <p:nvSpPr>
          <p:cNvPr id="13" name="Text 11"/>
          <p:cNvSpPr/>
          <p:nvPr/>
        </p:nvSpPr>
        <p:spPr>
          <a:xfrm>
            <a:off x="548640" y="3383280"/>
            <a:ext cx="4572000" cy="36576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Variables Used</a:t>
            </a:r>
            <a:endParaRPr lang="en-US" sz="1500" dirty="0"/>
          </a:p>
        </p:txBody>
      </p:sp>
      <p:sp>
        <p:nvSpPr>
          <p:cNvPr id="14" name="Text 12"/>
          <p:cNvSpPr/>
          <p:nvPr/>
        </p:nvSpPr>
        <p:spPr>
          <a:xfrm>
            <a:off x="548640" y="3794760"/>
            <a:ext cx="5120640" cy="2651760"/>
          </a:xfrm>
          <a:prstGeom prst="rect">
            <a:avLst/>
          </a:prstGeom>
          <a:noFill/>
        </p:spPr>
        <p:txBody>
          <a:bodyPr wrap="square" rtlCol="0" anchor="ctr"/>
          <a:lstStyle/>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name → split into company / model</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year — manufacturing year</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km_driven — kilometers driven</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fuel — fuel type</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seller_type — type of seller</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transmission — manual / automatic</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owner — ownership status</a:t>
            </a:r>
            <a:endParaRPr lang="en-US" sz="1250" dirty="0"/>
          </a:p>
          <a:p>
            <a:pPr marL="342900" indent="-342900">
              <a:lnSpc>
                <a:spcPct val="130000"/>
              </a:lnSpc>
              <a:spcAft>
                <a:spcPts val="600"/>
              </a:spcAft>
              <a:buSzPct val="100000"/>
              <a:buChar char="•"/>
            </a:pPr>
            <a:r>
              <a:rPr lang="en-US" sz="1250" dirty="0">
                <a:solidFill>
                  <a:srgbClr val="232B45"/>
                </a:solidFill>
                <a:latin typeface="Calibri" panose="020F0502020204030204" pitchFamily="34" charset="0"/>
                <a:ea typeface="Calibri" panose="020F0502020204030204" pitchFamily="34" charset="-122"/>
                <a:cs typeface="Calibri" panose="020F0502020204030204" pitchFamily="34" charset="-120"/>
              </a:rPr>
              <a:t>selling_price — target variable</a:t>
            </a:r>
            <a:endParaRPr lang="en-US" sz="1250" dirty="0"/>
          </a:p>
        </p:txBody>
      </p:sp>
      <p:sp>
        <p:nvSpPr>
          <p:cNvPr id="15" name="Shape 13"/>
          <p:cNvSpPr/>
          <p:nvPr/>
        </p:nvSpPr>
        <p:spPr>
          <a:xfrm>
            <a:off x="6035040" y="3383280"/>
            <a:ext cx="5532120" cy="3063240"/>
          </a:xfrm>
          <a:prstGeom prst="roundRect">
            <a:avLst>
              <a:gd name="adj" fmla="val 2388"/>
            </a:avLst>
          </a:prstGeom>
          <a:solidFill>
            <a:srgbClr val="1E2761"/>
          </a:solidFill>
        </p:spPr>
      </p:sp>
      <p:pic>
        <p:nvPicPr>
          <p:cNvPr id="16" name="Image 0" descr="/home/claude/work/icons/database_white.png"/>
          <p:cNvPicPr>
            <a:picLocks noChangeAspect="1"/>
          </p:cNvPicPr>
          <p:nvPr/>
        </p:nvPicPr>
        <p:blipFill>
          <a:blip r:embed="rId1"/>
          <a:stretch>
            <a:fillRect/>
          </a:stretch>
        </p:blipFill>
        <p:spPr>
          <a:xfrm>
            <a:off x="6263640" y="3566160"/>
            <a:ext cx="365760" cy="365760"/>
          </a:xfrm>
          <a:prstGeom prst="rect">
            <a:avLst/>
          </a:prstGeom>
        </p:spPr>
      </p:pic>
      <p:sp>
        <p:nvSpPr>
          <p:cNvPr id="17" name="Text 14"/>
          <p:cNvSpPr/>
          <p:nvPr/>
        </p:nvSpPr>
        <p:spPr>
          <a:xfrm>
            <a:off x="6720840" y="3584448"/>
            <a:ext cx="4114800" cy="32004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Preprocessing Steps</a:t>
            </a:r>
            <a:endParaRPr lang="en-US" sz="1500" dirty="0"/>
          </a:p>
        </p:txBody>
      </p:sp>
      <p:sp>
        <p:nvSpPr>
          <p:cNvPr id="18" name="Text 15"/>
          <p:cNvSpPr/>
          <p:nvPr/>
        </p:nvSpPr>
        <p:spPr>
          <a:xfrm>
            <a:off x="6309360" y="4023360"/>
            <a:ext cx="5029200" cy="2286000"/>
          </a:xfrm>
          <a:prstGeom prst="rect">
            <a:avLst/>
          </a:prstGeom>
          <a:noFill/>
        </p:spPr>
        <p:txBody>
          <a:bodyPr wrap="square" rtlCol="0" anchor="ctr"/>
          <a:lstStyle/>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Checked structure, types &amp; descriptive stats</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No missing values found</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Removed duplicate records</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Split name into company + model</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Encoded categorical features</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Standardized numerical features</a:t>
            </a:r>
            <a:endParaRPr lang="en-US" sz="1200" dirty="0"/>
          </a:p>
          <a:p>
            <a:pPr marL="342900" indent="-342900">
              <a:lnSpc>
                <a:spcPct val="125000"/>
              </a:lnSpc>
              <a:spcAft>
                <a:spcPts val="500"/>
              </a:spcAft>
              <a:buSzPct val="100000"/>
              <a:buChar char="•"/>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Split into train / test sets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p:spPr>
        <p:txBody>
          <a:bodyPr wrap="square"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Exploratory Data Analysis</a:t>
            </a:r>
            <a:endParaRPr lang="en-US" sz="2800" dirty="0"/>
          </a:p>
        </p:txBody>
      </p:sp>
      <p:sp>
        <p:nvSpPr>
          <p:cNvPr id="3" name="Text 1"/>
          <p:cNvSpPr/>
          <p:nvPr/>
        </p:nvSpPr>
        <p:spPr>
          <a:xfrm>
            <a:off x="548640" y="868680"/>
            <a:ext cx="8229600" cy="365760"/>
          </a:xfrm>
          <a:prstGeom prst="rect">
            <a:avLst/>
          </a:prstGeom>
          <a:noFill/>
        </p:spPr>
        <p:txBody>
          <a:bodyPr wrap="square" rtlCol="0" anchor="ctr"/>
          <a:lstStyle/>
          <a:p>
            <a:pPr marL="0" indent="0">
              <a:buNone/>
            </a:pPr>
            <a:r>
              <a:rPr lang="en-US" sz="1300" i="1" dirty="0">
                <a:solidFill>
                  <a:srgbClr val="5B6482"/>
                </a:solidFill>
                <a:latin typeface="Calibri" panose="020F0502020204030204" pitchFamily="34" charset="0"/>
                <a:ea typeface="Calibri" panose="020F0502020204030204" pitchFamily="34" charset="-122"/>
                <a:cs typeface="Calibri" panose="020F0502020204030204" pitchFamily="34" charset="-120"/>
              </a:rPr>
              <a:t>Price distribution and the effect of car age</a:t>
            </a:r>
            <a:endParaRPr lang="en-US" sz="1300" dirty="0"/>
          </a:p>
        </p:txBody>
      </p:sp>
      <p:sp>
        <p:nvSpPr>
          <p:cNvPr id="4" name="Shape 2"/>
          <p:cNvSpPr/>
          <p:nvPr/>
        </p:nvSpPr>
        <p:spPr>
          <a:xfrm>
            <a:off x="548640" y="1417320"/>
            <a:ext cx="5486400" cy="4480560"/>
          </a:xfrm>
          <a:prstGeom prst="roundRect">
            <a:avLst>
              <a:gd name="adj" fmla="val 1224"/>
            </a:avLst>
          </a:prstGeom>
          <a:solidFill>
            <a:srgbClr val="F7F8FC"/>
          </a:solidFill>
          <a:ln w="12700">
            <a:solidFill>
              <a:srgbClr val="CADCFC"/>
            </a:solidFill>
            <a:prstDash val="solid"/>
          </a:ln>
        </p:spPr>
      </p:sp>
      <p:pic>
        <p:nvPicPr>
          <p:cNvPr id="5" name="Image 0" descr="/home/claude/work/imgs/img-000.jpg"/>
          <p:cNvPicPr>
            <a:picLocks noChangeAspect="1"/>
          </p:cNvPicPr>
          <p:nvPr/>
        </p:nvPicPr>
        <p:blipFill>
          <a:blip r:embed="rId1"/>
          <a:srcRect/>
          <a:stretch>
            <a:fillRect/>
          </a:stretch>
        </p:blipFill>
        <p:spPr>
          <a:xfrm>
            <a:off x="777240" y="1600200"/>
            <a:ext cx="5029200" cy="3886200"/>
          </a:xfrm>
          <a:prstGeom prst="rect">
            <a:avLst/>
          </a:prstGeom>
        </p:spPr>
      </p:pic>
      <p:sp>
        <p:nvSpPr>
          <p:cNvPr id="6" name="Text 3"/>
          <p:cNvSpPr/>
          <p:nvPr/>
        </p:nvSpPr>
        <p:spPr>
          <a:xfrm>
            <a:off x="77724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Right-skewed: most cars are priced low, with a small number of high-price outliers.</a:t>
            </a:r>
            <a:endParaRPr lang="en-US" sz="1150" dirty="0"/>
          </a:p>
        </p:txBody>
      </p:sp>
      <p:sp>
        <p:nvSpPr>
          <p:cNvPr id="7" name="Shape 4"/>
          <p:cNvSpPr/>
          <p:nvPr/>
        </p:nvSpPr>
        <p:spPr>
          <a:xfrm>
            <a:off x="6172200" y="1417320"/>
            <a:ext cx="5486400" cy="4480560"/>
          </a:xfrm>
          <a:prstGeom prst="roundRect">
            <a:avLst>
              <a:gd name="adj" fmla="val 1224"/>
            </a:avLst>
          </a:prstGeom>
          <a:solidFill>
            <a:srgbClr val="F7F8FC"/>
          </a:solidFill>
          <a:ln w="12700">
            <a:solidFill>
              <a:srgbClr val="CADCFC"/>
            </a:solidFill>
            <a:prstDash val="solid"/>
          </a:ln>
        </p:spPr>
      </p:sp>
      <p:pic>
        <p:nvPicPr>
          <p:cNvPr id="8" name="Image 1" descr="/home/claude/work/imgs/img-001.jpg"/>
          <p:cNvPicPr>
            <a:picLocks noChangeAspect="1"/>
          </p:cNvPicPr>
          <p:nvPr/>
        </p:nvPicPr>
        <p:blipFill>
          <a:blip r:embed="rId2"/>
          <a:srcRect/>
          <a:stretch>
            <a:fillRect/>
          </a:stretch>
        </p:blipFill>
        <p:spPr>
          <a:xfrm>
            <a:off x="6400800" y="1600200"/>
            <a:ext cx="5029200" cy="3886200"/>
          </a:xfrm>
          <a:prstGeom prst="rect">
            <a:avLst/>
          </a:prstGeom>
        </p:spPr>
      </p:pic>
      <p:sp>
        <p:nvSpPr>
          <p:cNvPr id="9" name="Text 5"/>
          <p:cNvSpPr/>
          <p:nvPr/>
        </p:nvSpPr>
        <p:spPr>
          <a:xfrm>
            <a:off x="640080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Newer manufacturing years are clearly associated with higher selling prices.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p:spPr>
        <p:txBody>
          <a:bodyPr wrap="square"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Exploratory Data Analysis</a:t>
            </a:r>
            <a:endParaRPr lang="en-US" sz="2800" dirty="0"/>
          </a:p>
        </p:txBody>
      </p:sp>
      <p:sp>
        <p:nvSpPr>
          <p:cNvPr id="3" name="Text 1"/>
          <p:cNvSpPr/>
          <p:nvPr/>
        </p:nvSpPr>
        <p:spPr>
          <a:xfrm>
            <a:off x="548640" y="868680"/>
            <a:ext cx="8229600" cy="365760"/>
          </a:xfrm>
          <a:prstGeom prst="rect">
            <a:avLst/>
          </a:prstGeom>
          <a:noFill/>
        </p:spPr>
        <p:txBody>
          <a:bodyPr wrap="square" rtlCol="0" anchor="ctr"/>
          <a:lstStyle/>
          <a:p>
            <a:pPr marL="0" indent="0">
              <a:buNone/>
            </a:pPr>
            <a:r>
              <a:rPr lang="en-US" sz="1300" i="1" dirty="0">
                <a:solidFill>
                  <a:srgbClr val="5B6482"/>
                </a:solidFill>
                <a:latin typeface="Calibri" panose="020F0502020204030204" pitchFamily="34" charset="0"/>
                <a:ea typeface="Calibri" panose="020F0502020204030204" pitchFamily="34" charset="-122"/>
                <a:cs typeface="Calibri" panose="020F0502020204030204" pitchFamily="34" charset="-120"/>
              </a:rPr>
              <a:t>Mileage and transmission effects on price</a:t>
            </a:r>
            <a:endParaRPr lang="en-US" sz="1300" dirty="0"/>
          </a:p>
        </p:txBody>
      </p:sp>
      <p:sp>
        <p:nvSpPr>
          <p:cNvPr id="4" name="Shape 2"/>
          <p:cNvSpPr/>
          <p:nvPr/>
        </p:nvSpPr>
        <p:spPr>
          <a:xfrm>
            <a:off x="548640" y="1417320"/>
            <a:ext cx="5486400" cy="4480560"/>
          </a:xfrm>
          <a:prstGeom prst="roundRect">
            <a:avLst>
              <a:gd name="adj" fmla="val 1224"/>
            </a:avLst>
          </a:prstGeom>
          <a:solidFill>
            <a:srgbClr val="F7F8FC"/>
          </a:solidFill>
          <a:ln w="12700">
            <a:solidFill>
              <a:srgbClr val="CADCFC"/>
            </a:solidFill>
            <a:prstDash val="solid"/>
          </a:ln>
        </p:spPr>
      </p:sp>
      <p:pic>
        <p:nvPicPr>
          <p:cNvPr id="5" name="Image 0" descr="/home/claude/work/imgs/img-002.jpg"/>
          <p:cNvPicPr>
            <a:picLocks noChangeAspect="1"/>
          </p:cNvPicPr>
          <p:nvPr/>
        </p:nvPicPr>
        <p:blipFill>
          <a:blip r:embed="rId1"/>
          <a:srcRect/>
          <a:stretch>
            <a:fillRect/>
          </a:stretch>
        </p:blipFill>
        <p:spPr>
          <a:xfrm>
            <a:off x="777240" y="1600200"/>
            <a:ext cx="5029200" cy="3886200"/>
          </a:xfrm>
          <a:prstGeom prst="rect">
            <a:avLst/>
          </a:prstGeom>
        </p:spPr>
      </p:pic>
      <p:sp>
        <p:nvSpPr>
          <p:cNvPr id="6" name="Text 3"/>
          <p:cNvSpPr/>
          <p:nvPr/>
        </p:nvSpPr>
        <p:spPr>
          <a:xfrm>
            <a:off x="77724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Higher mileage generally means lower price, with a few high-mileage outliers.</a:t>
            </a:r>
            <a:endParaRPr lang="en-US" sz="1150" dirty="0"/>
          </a:p>
        </p:txBody>
      </p:sp>
      <p:sp>
        <p:nvSpPr>
          <p:cNvPr id="7" name="Shape 4"/>
          <p:cNvSpPr/>
          <p:nvPr/>
        </p:nvSpPr>
        <p:spPr>
          <a:xfrm>
            <a:off x="6172200" y="1417320"/>
            <a:ext cx="5486400" cy="4480560"/>
          </a:xfrm>
          <a:prstGeom prst="roundRect">
            <a:avLst>
              <a:gd name="adj" fmla="val 1224"/>
            </a:avLst>
          </a:prstGeom>
          <a:solidFill>
            <a:srgbClr val="F7F8FC"/>
          </a:solidFill>
          <a:ln w="12700">
            <a:solidFill>
              <a:srgbClr val="CADCFC"/>
            </a:solidFill>
            <a:prstDash val="solid"/>
          </a:ln>
        </p:spPr>
      </p:sp>
      <p:pic>
        <p:nvPicPr>
          <p:cNvPr id="8" name="Image 1" descr="/home/claude/work/imgs/img-003.jpg"/>
          <p:cNvPicPr>
            <a:picLocks noChangeAspect="1"/>
          </p:cNvPicPr>
          <p:nvPr/>
        </p:nvPicPr>
        <p:blipFill>
          <a:blip r:embed="rId2"/>
          <a:srcRect/>
          <a:stretch>
            <a:fillRect/>
          </a:stretch>
        </p:blipFill>
        <p:spPr>
          <a:xfrm>
            <a:off x="6400800" y="1600200"/>
            <a:ext cx="5029200" cy="3886200"/>
          </a:xfrm>
          <a:prstGeom prst="rect">
            <a:avLst/>
          </a:prstGeom>
        </p:spPr>
      </p:pic>
      <p:sp>
        <p:nvSpPr>
          <p:cNvPr id="9" name="Text 5"/>
          <p:cNvSpPr/>
          <p:nvPr/>
        </p:nvSpPr>
        <p:spPr>
          <a:xfrm>
            <a:off x="640080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Automatic cars tend to sell for more than manual cars, though both have high-price outliers.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p:spPr>
        <p:txBody>
          <a:bodyPr wrap="square"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Exploratory Data Analysis</a:t>
            </a:r>
            <a:endParaRPr lang="en-US" sz="2800" dirty="0"/>
          </a:p>
        </p:txBody>
      </p:sp>
      <p:sp>
        <p:nvSpPr>
          <p:cNvPr id="3" name="Text 1"/>
          <p:cNvSpPr/>
          <p:nvPr/>
        </p:nvSpPr>
        <p:spPr>
          <a:xfrm>
            <a:off x="548640" y="868680"/>
            <a:ext cx="8229600" cy="365760"/>
          </a:xfrm>
          <a:prstGeom prst="rect">
            <a:avLst/>
          </a:prstGeom>
          <a:noFill/>
        </p:spPr>
        <p:txBody>
          <a:bodyPr wrap="square" rtlCol="0" anchor="ctr"/>
          <a:lstStyle/>
          <a:p>
            <a:pPr marL="0" indent="0">
              <a:buNone/>
            </a:pPr>
            <a:r>
              <a:rPr lang="en-US" sz="1300" i="1" dirty="0">
                <a:solidFill>
                  <a:srgbClr val="5B6482"/>
                </a:solidFill>
                <a:latin typeface="Calibri" panose="020F0502020204030204" pitchFamily="34" charset="0"/>
                <a:ea typeface="Calibri" panose="020F0502020204030204" pitchFamily="34" charset="-122"/>
                <a:cs typeface="Calibri" panose="020F0502020204030204" pitchFamily="34" charset="-120"/>
              </a:rPr>
              <a:t>Feature correlation and market composition</a:t>
            </a:r>
            <a:endParaRPr lang="en-US" sz="1300" dirty="0"/>
          </a:p>
        </p:txBody>
      </p:sp>
      <p:sp>
        <p:nvSpPr>
          <p:cNvPr id="4" name="Shape 2"/>
          <p:cNvSpPr/>
          <p:nvPr/>
        </p:nvSpPr>
        <p:spPr>
          <a:xfrm>
            <a:off x="548640" y="1417320"/>
            <a:ext cx="5486400" cy="4480560"/>
          </a:xfrm>
          <a:prstGeom prst="roundRect">
            <a:avLst>
              <a:gd name="adj" fmla="val 1224"/>
            </a:avLst>
          </a:prstGeom>
          <a:solidFill>
            <a:srgbClr val="F7F8FC"/>
          </a:solidFill>
          <a:ln w="12700">
            <a:solidFill>
              <a:srgbClr val="CADCFC"/>
            </a:solidFill>
            <a:prstDash val="solid"/>
          </a:ln>
        </p:spPr>
      </p:sp>
      <p:pic>
        <p:nvPicPr>
          <p:cNvPr id="5" name="Image 0" descr="/home/claude/work/imgs/img-004.jpg"/>
          <p:cNvPicPr>
            <a:picLocks noChangeAspect="1"/>
          </p:cNvPicPr>
          <p:nvPr/>
        </p:nvPicPr>
        <p:blipFill>
          <a:blip r:embed="rId1"/>
          <a:srcRect/>
          <a:stretch>
            <a:fillRect/>
          </a:stretch>
        </p:blipFill>
        <p:spPr>
          <a:xfrm>
            <a:off x="868680" y="1737360"/>
            <a:ext cx="4846320" cy="3566160"/>
          </a:xfrm>
          <a:prstGeom prst="rect">
            <a:avLst/>
          </a:prstGeom>
        </p:spPr>
      </p:pic>
      <p:sp>
        <p:nvSpPr>
          <p:cNvPr id="6" name="Text 3"/>
          <p:cNvSpPr/>
          <p:nvPr/>
        </p:nvSpPr>
        <p:spPr>
          <a:xfrm>
            <a:off x="77724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Year correlates positively with price (0.42); km driven correlates negatively (-0.19).</a:t>
            </a:r>
            <a:endParaRPr lang="en-US" sz="1150" dirty="0"/>
          </a:p>
        </p:txBody>
      </p:sp>
      <p:sp>
        <p:nvSpPr>
          <p:cNvPr id="7" name="Shape 4"/>
          <p:cNvSpPr/>
          <p:nvPr/>
        </p:nvSpPr>
        <p:spPr>
          <a:xfrm>
            <a:off x="6172200" y="1417320"/>
            <a:ext cx="5486400" cy="4480560"/>
          </a:xfrm>
          <a:prstGeom prst="roundRect">
            <a:avLst>
              <a:gd name="adj" fmla="val 1224"/>
            </a:avLst>
          </a:prstGeom>
          <a:solidFill>
            <a:srgbClr val="F7F8FC"/>
          </a:solidFill>
          <a:ln w="12700">
            <a:solidFill>
              <a:srgbClr val="CADCFC"/>
            </a:solidFill>
            <a:prstDash val="solid"/>
          </a:ln>
        </p:spPr>
      </p:sp>
      <p:pic>
        <p:nvPicPr>
          <p:cNvPr id="8" name="Image 1" descr="/home/claude/work/imgs/img-005.jpg"/>
          <p:cNvPicPr>
            <a:picLocks noChangeAspect="1"/>
          </p:cNvPicPr>
          <p:nvPr/>
        </p:nvPicPr>
        <p:blipFill>
          <a:blip r:embed="rId2"/>
          <a:srcRect/>
          <a:stretch>
            <a:fillRect/>
          </a:stretch>
        </p:blipFill>
        <p:spPr>
          <a:xfrm>
            <a:off x="6903720" y="1600200"/>
            <a:ext cx="4023360" cy="3931920"/>
          </a:xfrm>
          <a:prstGeom prst="rect">
            <a:avLst/>
          </a:prstGeom>
        </p:spPr>
      </p:pic>
      <p:sp>
        <p:nvSpPr>
          <p:cNvPr id="9" name="Text 5"/>
          <p:cNvSpPr/>
          <p:nvPr/>
        </p:nvSpPr>
        <p:spPr>
          <a:xfrm>
            <a:off x="6400800" y="5486400"/>
            <a:ext cx="5029200" cy="365760"/>
          </a:xfrm>
          <a:prstGeom prst="rect">
            <a:avLst/>
          </a:prstGeom>
          <a:noFill/>
        </p:spPr>
        <p:txBody>
          <a:bodyPr wrap="square" rtlCol="0" anchor="ctr"/>
          <a:lstStyle/>
          <a:p>
            <a:pPr marL="0" indent="0">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Maruti (32.4%) and Hyundai (19.3%) dominate the dataset's car brands.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Modeling Approach</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400" i="1" dirty="0">
                <a:solidFill>
                  <a:srgbClr val="5B6482"/>
                </a:solidFill>
                <a:latin typeface="Calibri" panose="020F0502020204030204" pitchFamily="34" charset="0"/>
                <a:ea typeface="Calibri" panose="020F0502020204030204" pitchFamily="34" charset="-122"/>
                <a:cs typeface="Calibri" panose="020F0502020204030204" pitchFamily="34" charset="-120"/>
              </a:rPr>
              <a:t>Four regression models trained and compared</a:t>
            </a:r>
            <a:endParaRPr lang="en-US" sz="1400" dirty="0"/>
          </a:p>
        </p:txBody>
      </p:sp>
      <p:sp>
        <p:nvSpPr>
          <p:cNvPr id="4" name="Shape 2"/>
          <p:cNvSpPr/>
          <p:nvPr/>
        </p:nvSpPr>
        <p:spPr>
          <a:xfrm>
            <a:off x="548640" y="1691640"/>
            <a:ext cx="2724912" cy="4206240"/>
          </a:xfrm>
          <a:prstGeom prst="roundRect">
            <a:avLst>
              <a:gd name="adj" fmla="val 2685"/>
            </a:avLst>
          </a:prstGeom>
          <a:solidFill>
            <a:srgbClr val="F7F8FC"/>
          </a:solidFill>
          <a:ln w="12700">
            <a:solidFill>
              <a:srgbClr val="CADCFC"/>
            </a:solidFill>
            <a:prstDash val="solid"/>
          </a:ln>
        </p:spPr>
      </p:sp>
      <p:sp>
        <p:nvSpPr>
          <p:cNvPr id="5" name="Shape 3"/>
          <p:cNvSpPr/>
          <p:nvPr/>
        </p:nvSpPr>
        <p:spPr>
          <a:xfrm>
            <a:off x="1545336" y="1965960"/>
            <a:ext cx="731520" cy="731520"/>
          </a:xfrm>
          <a:prstGeom prst="ellipse">
            <a:avLst/>
          </a:prstGeom>
          <a:solidFill>
            <a:srgbClr val="CADCFC"/>
          </a:solidFill>
        </p:spPr>
      </p:sp>
      <p:pic>
        <p:nvPicPr>
          <p:cNvPr id="6" name="Image 0" descr="/home/claude/work/icons/chart_navy.png"/>
          <p:cNvPicPr>
            <a:picLocks noChangeAspect="1"/>
          </p:cNvPicPr>
          <p:nvPr/>
        </p:nvPicPr>
        <p:blipFill>
          <a:blip r:embed="rId1"/>
          <a:stretch>
            <a:fillRect/>
          </a:stretch>
        </p:blipFill>
        <p:spPr>
          <a:xfrm>
            <a:off x="1709928" y="2130552"/>
            <a:ext cx="402336" cy="402336"/>
          </a:xfrm>
          <a:prstGeom prst="rect">
            <a:avLst/>
          </a:prstGeom>
        </p:spPr>
      </p:pic>
      <p:sp>
        <p:nvSpPr>
          <p:cNvPr id="7" name="Text 4"/>
          <p:cNvSpPr/>
          <p:nvPr/>
        </p:nvSpPr>
        <p:spPr>
          <a:xfrm>
            <a:off x="685800" y="2880360"/>
            <a:ext cx="2450592" cy="640080"/>
          </a:xfrm>
          <a:prstGeom prst="rect">
            <a:avLst/>
          </a:prstGeom>
          <a:noFill/>
        </p:spPr>
        <p:txBody>
          <a:bodyPr wrap="square"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Linear Regression</a:t>
            </a:r>
            <a:endParaRPr lang="en-US" sz="1500" dirty="0"/>
          </a:p>
        </p:txBody>
      </p:sp>
      <p:sp>
        <p:nvSpPr>
          <p:cNvPr id="8" name="Text 5"/>
          <p:cNvSpPr/>
          <p:nvPr/>
        </p:nvSpPr>
        <p:spPr>
          <a:xfrm>
            <a:off x="731520" y="3520440"/>
            <a:ext cx="2359152" cy="2194560"/>
          </a:xfrm>
          <a:prstGeom prst="rect">
            <a:avLst/>
          </a:prstGeom>
          <a:noFill/>
        </p:spPr>
        <p:txBody>
          <a:bodyPr wrap="square" rtlCol="0" anchor="ctr"/>
          <a:lstStyle/>
          <a:p>
            <a:pPr marL="0" indent="0" algn="ctr">
              <a:lnSpc>
                <a:spcPct val="125000"/>
              </a:lnSpc>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Simple baseline to estimate the relationship between features and price.</a:t>
            </a:r>
            <a:endParaRPr lang="en-US" sz="1150" dirty="0"/>
          </a:p>
        </p:txBody>
      </p:sp>
      <p:sp>
        <p:nvSpPr>
          <p:cNvPr id="9" name="Shape 6"/>
          <p:cNvSpPr/>
          <p:nvPr/>
        </p:nvSpPr>
        <p:spPr>
          <a:xfrm>
            <a:off x="3410712" y="1691640"/>
            <a:ext cx="2724912" cy="4206240"/>
          </a:xfrm>
          <a:prstGeom prst="roundRect">
            <a:avLst>
              <a:gd name="adj" fmla="val 2685"/>
            </a:avLst>
          </a:prstGeom>
          <a:solidFill>
            <a:srgbClr val="F7F8FC"/>
          </a:solidFill>
          <a:ln w="12700">
            <a:solidFill>
              <a:srgbClr val="CADCFC"/>
            </a:solidFill>
            <a:prstDash val="solid"/>
          </a:ln>
        </p:spPr>
      </p:sp>
      <p:sp>
        <p:nvSpPr>
          <p:cNvPr id="10" name="Shape 7"/>
          <p:cNvSpPr/>
          <p:nvPr/>
        </p:nvSpPr>
        <p:spPr>
          <a:xfrm>
            <a:off x="4407408" y="1965960"/>
            <a:ext cx="731520" cy="731520"/>
          </a:xfrm>
          <a:prstGeom prst="ellipse">
            <a:avLst/>
          </a:prstGeom>
          <a:solidFill>
            <a:srgbClr val="CADCFC"/>
          </a:solidFill>
        </p:spPr>
      </p:sp>
      <p:pic>
        <p:nvPicPr>
          <p:cNvPr id="11" name="Image 1" descr="/home/claude/work/icons/cogs_navy.png"/>
          <p:cNvPicPr>
            <a:picLocks noChangeAspect="1"/>
          </p:cNvPicPr>
          <p:nvPr/>
        </p:nvPicPr>
        <p:blipFill>
          <a:blip r:embed="rId2"/>
          <a:stretch>
            <a:fillRect/>
          </a:stretch>
        </p:blipFill>
        <p:spPr>
          <a:xfrm>
            <a:off x="4572000" y="2130552"/>
            <a:ext cx="402336" cy="402336"/>
          </a:xfrm>
          <a:prstGeom prst="rect">
            <a:avLst/>
          </a:prstGeom>
        </p:spPr>
      </p:pic>
      <p:sp>
        <p:nvSpPr>
          <p:cNvPr id="12" name="Text 8"/>
          <p:cNvSpPr/>
          <p:nvPr/>
        </p:nvSpPr>
        <p:spPr>
          <a:xfrm>
            <a:off x="3547872" y="2880360"/>
            <a:ext cx="2450592" cy="640080"/>
          </a:xfrm>
          <a:prstGeom prst="rect">
            <a:avLst/>
          </a:prstGeom>
          <a:noFill/>
        </p:spPr>
        <p:txBody>
          <a:bodyPr wrap="square"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Random Forest</a:t>
            </a:r>
            <a:endParaRPr lang="en-US" sz="1500" dirty="0"/>
          </a:p>
        </p:txBody>
      </p:sp>
      <p:sp>
        <p:nvSpPr>
          <p:cNvPr id="13" name="Text 9"/>
          <p:cNvSpPr/>
          <p:nvPr/>
        </p:nvSpPr>
        <p:spPr>
          <a:xfrm>
            <a:off x="3593592" y="3520440"/>
            <a:ext cx="2359152" cy="2194560"/>
          </a:xfrm>
          <a:prstGeom prst="rect">
            <a:avLst/>
          </a:prstGeom>
          <a:noFill/>
        </p:spPr>
        <p:txBody>
          <a:bodyPr wrap="square" rtlCol="0" anchor="ctr"/>
          <a:lstStyle/>
          <a:p>
            <a:pPr marL="0" indent="0" algn="ctr">
              <a:lnSpc>
                <a:spcPct val="125000"/>
              </a:lnSpc>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Combines multiple decision trees to capture complex, nonlinear relationships.</a:t>
            </a:r>
            <a:endParaRPr lang="en-US" sz="1150" dirty="0"/>
          </a:p>
        </p:txBody>
      </p:sp>
      <p:sp>
        <p:nvSpPr>
          <p:cNvPr id="14" name="Shape 10"/>
          <p:cNvSpPr/>
          <p:nvPr/>
        </p:nvSpPr>
        <p:spPr>
          <a:xfrm>
            <a:off x="6272784" y="1691640"/>
            <a:ext cx="2724912" cy="4206240"/>
          </a:xfrm>
          <a:prstGeom prst="roundRect">
            <a:avLst>
              <a:gd name="adj" fmla="val 2685"/>
            </a:avLst>
          </a:prstGeom>
          <a:solidFill>
            <a:srgbClr val="F7F8FC"/>
          </a:solidFill>
          <a:ln w="12700">
            <a:solidFill>
              <a:srgbClr val="CADCFC"/>
            </a:solidFill>
            <a:prstDash val="solid"/>
          </a:ln>
        </p:spPr>
      </p:sp>
      <p:sp>
        <p:nvSpPr>
          <p:cNvPr id="15" name="Shape 11"/>
          <p:cNvSpPr/>
          <p:nvPr/>
        </p:nvSpPr>
        <p:spPr>
          <a:xfrm>
            <a:off x="7269480" y="1965960"/>
            <a:ext cx="731520" cy="731520"/>
          </a:xfrm>
          <a:prstGeom prst="ellipse">
            <a:avLst/>
          </a:prstGeom>
          <a:solidFill>
            <a:srgbClr val="CADCFC"/>
          </a:solidFill>
        </p:spPr>
      </p:sp>
      <p:pic>
        <p:nvPicPr>
          <p:cNvPr id="16" name="Image 2" descr="/home/claude/work/icons/exchange_navy.png"/>
          <p:cNvPicPr>
            <a:picLocks noChangeAspect="1"/>
          </p:cNvPicPr>
          <p:nvPr/>
        </p:nvPicPr>
        <p:blipFill>
          <a:blip r:embed="rId3"/>
          <a:stretch>
            <a:fillRect/>
          </a:stretch>
        </p:blipFill>
        <p:spPr>
          <a:xfrm>
            <a:off x="7434072" y="2130552"/>
            <a:ext cx="402336" cy="402336"/>
          </a:xfrm>
          <a:prstGeom prst="rect">
            <a:avLst/>
          </a:prstGeom>
        </p:spPr>
      </p:pic>
      <p:sp>
        <p:nvSpPr>
          <p:cNvPr id="17" name="Text 12"/>
          <p:cNvSpPr/>
          <p:nvPr/>
        </p:nvSpPr>
        <p:spPr>
          <a:xfrm>
            <a:off x="6409944" y="2880360"/>
            <a:ext cx="2450592" cy="640080"/>
          </a:xfrm>
          <a:prstGeom prst="rect">
            <a:avLst/>
          </a:prstGeom>
          <a:noFill/>
        </p:spPr>
        <p:txBody>
          <a:bodyPr wrap="square"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1500" dirty="0"/>
          </a:p>
        </p:txBody>
      </p:sp>
      <p:sp>
        <p:nvSpPr>
          <p:cNvPr id="18" name="Text 13"/>
          <p:cNvSpPr/>
          <p:nvPr/>
        </p:nvSpPr>
        <p:spPr>
          <a:xfrm>
            <a:off x="6455664" y="3520440"/>
            <a:ext cx="2359152" cy="2194560"/>
          </a:xfrm>
          <a:prstGeom prst="rect">
            <a:avLst/>
          </a:prstGeom>
          <a:noFill/>
        </p:spPr>
        <p:txBody>
          <a:bodyPr wrap="square" rtlCol="0" anchor="ctr"/>
          <a:lstStyle/>
          <a:p>
            <a:pPr marL="0" indent="0" algn="ctr">
              <a:lnSpc>
                <a:spcPct val="125000"/>
              </a:lnSpc>
              <a:buNone/>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Sequentially combines weak models, each correcting the previous model's errors.</a:t>
            </a:r>
            <a:endParaRPr lang="en-US" sz="1150" dirty="0"/>
          </a:p>
        </p:txBody>
      </p:sp>
      <p:sp>
        <p:nvSpPr>
          <p:cNvPr id="19" name="Shape 14"/>
          <p:cNvSpPr/>
          <p:nvPr/>
        </p:nvSpPr>
        <p:spPr>
          <a:xfrm>
            <a:off x="9134856" y="1691640"/>
            <a:ext cx="2724912" cy="4206240"/>
          </a:xfrm>
          <a:prstGeom prst="roundRect">
            <a:avLst>
              <a:gd name="adj" fmla="val 2685"/>
            </a:avLst>
          </a:prstGeom>
          <a:solidFill>
            <a:srgbClr val="1E2761"/>
          </a:solidFill>
        </p:spPr>
      </p:sp>
      <p:sp>
        <p:nvSpPr>
          <p:cNvPr id="20" name="Shape 15"/>
          <p:cNvSpPr/>
          <p:nvPr/>
        </p:nvSpPr>
        <p:spPr>
          <a:xfrm>
            <a:off x="10131552" y="1965960"/>
            <a:ext cx="731520" cy="731520"/>
          </a:xfrm>
          <a:prstGeom prst="ellipse">
            <a:avLst/>
          </a:prstGeom>
          <a:solidFill>
            <a:srgbClr val="263173"/>
          </a:solidFill>
        </p:spPr>
      </p:sp>
      <p:pic>
        <p:nvPicPr>
          <p:cNvPr id="21" name="Image 3" descr="/home/claude/work/icons/trophy_white.png"/>
          <p:cNvPicPr>
            <a:picLocks noChangeAspect="1"/>
          </p:cNvPicPr>
          <p:nvPr/>
        </p:nvPicPr>
        <p:blipFill>
          <a:blip r:embed="rId4"/>
          <a:stretch>
            <a:fillRect/>
          </a:stretch>
        </p:blipFill>
        <p:spPr>
          <a:xfrm>
            <a:off x="10296144" y="2130552"/>
            <a:ext cx="402336" cy="402336"/>
          </a:xfrm>
          <a:prstGeom prst="rect">
            <a:avLst/>
          </a:prstGeom>
        </p:spPr>
      </p:pic>
      <p:sp>
        <p:nvSpPr>
          <p:cNvPr id="22" name="Text 16"/>
          <p:cNvSpPr/>
          <p:nvPr/>
        </p:nvSpPr>
        <p:spPr>
          <a:xfrm>
            <a:off x="9272016" y="2880360"/>
            <a:ext cx="2450592" cy="640080"/>
          </a:xfrm>
          <a:prstGeom prst="rect">
            <a:avLst/>
          </a:prstGeom>
          <a:noFill/>
        </p:spPr>
        <p:txBody>
          <a:bodyPr wrap="square"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CatBoost</a:t>
            </a:r>
            <a:endParaRPr lang="en-US" sz="1500" dirty="0"/>
          </a:p>
        </p:txBody>
      </p:sp>
      <p:sp>
        <p:nvSpPr>
          <p:cNvPr id="23" name="Text 17"/>
          <p:cNvSpPr/>
          <p:nvPr/>
        </p:nvSpPr>
        <p:spPr>
          <a:xfrm>
            <a:off x="9317736" y="3520440"/>
            <a:ext cx="2359152" cy="2194560"/>
          </a:xfrm>
          <a:prstGeom prst="rect">
            <a:avLst/>
          </a:prstGeom>
          <a:noFill/>
        </p:spPr>
        <p:txBody>
          <a:bodyPr wrap="square" rtlCol="0" anchor="ctr"/>
          <a:lstStyle/>
          <a:p>
            <a:pPr marL="0" indent="0" algn="ctr">
              <a:lnSpc>
                <a:spcPct val="125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Handles categorical features natively and captures nonlinear patterns effectively.</a:t>
            </a:r>
            <a:endParaRPr lang="en-US" sz="1150" dirty="0"/>
          </a:p>
        </p:txBody>
      </p:sp>
      <p:sp>
        <p:nvSpPr>
          <p:cNvPr id="24" name="Text 18"/>
          <p:cNvSpPr/>
          <p:nvPr/>
        </p:nvSpPr>
        <p:spPr>
          <a:xfrm>
            <a:off x="9272016" y="5532120"/>
            <a:ext cx="2450592" cy="274320"/>
          </a:xfrm>
          <a:prstGeom prst="rect">
            <a:avLst/>
          </a:prstGeom>
          <a:noFill/>
        </p:spPr>
        <p:txBody>
          <a:bodyPr wrap="square" rtlCol="0" anchor="ctr"/>
          <a:lstStyle/>
          <a:p>
            <a:pPr marL="0" indent="0" algn="ctr">
              <a:buNone/>
            </a:pPr>
            <a:r>
              <a:rPr lang="en-US" sz="105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BEST MODEL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Model Results</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400" i="1" dirty="0">
                <a:solidFill>
                  <a:srgbClr val="5B6482"/>
                </a:solidFill>
                <a:latin typeface="Calibri" panose="020F0502020204030204" pitchFamily="34" charset="0"/>
                <a:ea typeface="Calibri" panose="020F0502020204030204" pitchFamily="34" charset="-122"/>
                <a:cs typeface="Calibri" panose="020F0502020204030204" pitchFamily="34" charset="-120"/>
              </a:rPr>
              <a:t>CatBoost achieved the best overall performance</a:t>
            </a:r>
            <a:endParaRPr lang="en-US" sz="1400" dirty="0"/>
          </a:p>
        </p:txBody>
      </p:sp>
      <p:graphicFrame>
        <p:nvGraphicFramePr>
          <p:cNvPr id="4" name="Chart 0"/>
          <p:cNvGraphicFramePr/>
          <p:nvPr/>
        </p:nvGraphicFramePr>
        <p:xfrm>
          <a:off x="548640" y="1554480"/>
          <a:ext cx="6583680" cy="44805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315200" y="1554480"/>
            <a:ext cx="4343400" cy="4480560"/>
          </a:xfrm>
          <a:prstGeom prst="roundRect">
            <a:avLst>
              <a:gd name="adj" fmla="val 1263"/>
            </a:avLst>
          </a:prstGeom>
          <a:solidFill>
            <a:srgbClr val="F7F8FC"/>
          </a:solidFill>
          <a:ln w="12700">
            <a:solidFill>
              <a:srgbClr val="CADCFC"/>
            </a:solidFill>
            <a:prstDash val="solid"/>
          </a:ln>
        </p:spPr>
      </p:sp>
      <p:sp>
        <p:nvSpPr>
          <p:cNvPr id="6" name="Text 3"/>
          <p:cNvSpPr/>
          <p:nvPr/>
        </p:nvSpPr>
        <p:spPr>
          <a:xfrm>
            <a:off x="7543800" y="1691640"/>
            <a:ext cx="3840480" cy="32004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Evaluation Metrics</a:t>
            </a:r>
            <a:endParaRPr lang="en-US" sz="1400" dirty="0"/>
          </a:p>
        </p:txBody>
      </p:sp>
      <p:graphicFrame>
        <p:nvGraphicFramePr>
          <p:cNvPr id="9" name="Table 0"/>
          <p:cNvGraphicFramePr>
            <a:graphicFrameLocks noGrp="1"/>
          </p:cNvGraphicFramePr>
          <p:nvPr/>
        </p:nvGraphicFramePr>
        <p:xfrm>
          <a:off x="7543800" y="2103120"/>
          <a:ext cx="3886200" cy="1737360"/>
        </p:xfrm>
        <a:graphic>
          <a:graphicData uri="http://schemas.openxmlformats.org/drawingml/2006/table">
            <a:tbl>
              <a:tblPr/>
              <a:tblGrid>
                <a:gridCol w="1417320"/>
                <a:gridCol w="822960"/>
                <a:gridCol w="868680"/>
                <a:gridCol w="777240"/>
              </a:tblGrid>
              <a:tr h="347472">
                <a:tc>
                  <a:txBody>
                    <a:bodyP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MAE</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RMSE</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R²</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r>
              <a:tr h="347472">
                <a:tc>
                  <a:txBody>
                    <a:bodyPr/>
                    <a:lstStyle/>
                    <a:p>
                      <a:pPr marL="0" indent="0" algn="l">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Linear Regression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1440.08</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3181.61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0.7478</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r>
              <a:tr h="347472">
                <a:tc>
                  <a:txBody>
                    <a:bodyPr/>
                    <a:lstStyle/>
                    <a:p>
                      <a:pPr marL="0" indent="0" algn="l">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Random Forest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1468.26</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3439.51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0.7053</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r>
              <a:tr h="347472">
                <a:tc>
                  <a:txBody>
                    <a:bodyPr/>
                    <a:lstStyle/>
                    <a:p>
                      <a:pPr marL="0" indent="0" algn="l">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1679.23</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3253.84</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32B45"/>
                          </a:solidFill>
                          <a:latin typeface="Calibri" panose="020F0502020204030204" pitchFamily="34" charset="0"/>
                          <a:ea typeface="Calibri" panose="020F0502020204030204" pitchFamily="34" charset="-122"/>
                          <a:cs typeface="Calibri" panose="020F0502020204030204" pitchFamily="34" charset="-120"/>
                        </a:rPr>
                        <a:t>0.7362</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FFFFF"/>
                    </a:solidFill>
                  </a:tcPr>
                </a:tc>
              </a:tr>
              <a:tr h="347472">
                <a:tc>
                  <a:txBody>
                    <a:bodyPr/>
                    <a:lstStyle/>
                    <a:p>
                      <a:pPr marL="0" indent="0" algn="l">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CatBoost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CADCFC"/>
                    </a:solidFill>
                  </a:tcPr>
                </a:tc>
                <a:tc>
                  <a:txBody>
                    <a:bodyPr/>
                    <a:lstStyle/>
                    <a:p>
                      <a:pPr marL="0" indent="0" algn="r">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1549.45</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CADCFC"/>
                    </a:solidFill>
                  </a:tcPr>
                </a:tc>
                <a:tc>
                  <a:txBody>
                    <a:bodyPr/>
                    <a:lstStyle/>
                    <a:p>
                      <a:pPr marL="0" indent="0" algn="r">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3132.27</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CADCFC"/>
                    </a:solidFill>
                  </a:tcPr>
                </a:tc>
                <a:tc>
                  <a:txBody>
                    <a:bodyPr/>
                    <a:lstStyle/>
                    <a:p>
                      <a:pPr marL="0" indent="0" algn="r">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0.7556</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CADCFC"/>
                    </a:solidFill>
                  </a:tcPr>
                </a:tc>
              </a:tr>
            </a:tbl>
          </a:graphicData>
        </a:graphic>
      </p:graphicFrame>
      <p:sp>
        <p:nvSpPr>
          <p:cNvPr id="8" name="Text 4"/>
          <p:cNvSpPr/>
          <p:nvPr/>
        </p:nvSpPr>
        <p:spPr>
          <a:xfrm>
            <a:off x="7543800" y="4069080"/>
            <a:ext cx="3886200" cy="1737360"/>
          </a:xfrm>
          <a:prstGeom prst="rect">
            <a:avLst/>
          </a:prstGeom>
          <a:noFill/>
        </p:spPr>
        <p:txBody>
          <a:bodyPr wrap="square" rtlCol="0" anchor="ctr"/>
          <a:lstStyle/>
          <a:p>
            <a:pPr marL="0" indent="0">
              <a:lnSpc>
                <a:spcPct val="130000"/>
              </a:lnSpc>
              <a:buNone/>
            </a:pP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Best model: </a:t>
            </a: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CatBoost
</a:t>
            </a: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Highest R² (0.7556) and lowest RMSE (3132.27) among all tested models — selected for the final application.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The Application</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400" i="1" dirty="0">
                <a:solidFill>
                  <a:srgbClr val="5B6482"/>
                </a:solidFill>
                <a:latin typeface="Calibri" panose="020F0502020204030204" pitchFamily="34" charset="0"/>
                <a:ea typeface="Calibri" panose="020F0502020204030204" pitchFamily="34" charset="-122"/>
                <a:cs typeface="Calibri" panose="020F0502020204030204" pitchFamily="34" charset="-120"/>
              </a:rPr>
              <a:t>A Streamlit GUI puts the CatBoost model in users' hands</a:t>
            </a:r>
            <a:endParaRPr lang="en-US" sz="1400" dirty="0"/>
          </a:p>
        </p:txBody>
      </p:sp>
      <p:sp>
        <p:nvSpPr>
          <p:cNvPr id="4" name="Shape 2"/>
          <p:cNvSpPr/>
          <p:nvPr/>
        </p:nvSpPr>
        <p:spPr>
          <a:xfrm>
            <a:off x="6537960" y="1554480"/>
            <a:ext cx="5120640" cy="4892040"/>
          </a:xfrm>
          <a:prstGeom prst="roundRect">
            <a:avLst>
              <a:gd name="adj" fmla="val 1121"/>
            </a:avLst>
          </a:prstGeom>
          <a:solidFill>
            <a:srgbClr val="F7F8FC"/>
          </a:solidFill>
          <a:ln w="19050">
            <a:solidFill>
              <a:srgbClr val="CADCFC"/>
            </a:solidFill>
            <a:prstDash val="solid"/>
          </a:ln>
        </p:spPr>
      </p:sp>
      <p:pic>
        <p:nvPicPr>
          <p:cNvPr id="5" name="Image 0" descr="/home/claude/work/imgs/img-006.jpg"/>
          <p:cNvPicPr>
            <a:picLocks noChangeAspect="1"/>
          </p:cNvPicPr>
          <p:nvPr/>
        </p:nvPicPr>
        <p:blipFill>
          <a:blip r:embed="rId1"/>
          <a:srcRect/>
          <a:stretch>
            <a:fillRect/>
          </a:stretch>
        </p:blipFill>
        <p:spPr>
          <a:xfrm>
            <a:off x="6812280" y="1783080"/>
            <a:ext cx="4572000" cy="4434840"/>
          </a:xfrm>
          <a:prstGeom prst="rect">
            <a:avLst/>
          </a:prstGeom>
        </p:spPr>
      </p:pic>
      <p:sp>
        <p:nvSpPr>
          <p:cNvPr id="6" name="Text 3"/>
          <p:cNvSpPr/>
          <p:nvPr/>
        </p:nvSpPr>
        <p:spPr>
          <a:xfrm>
            <a:off x="548640" y="1600200"/>
            <a:ext cx="5486400" cy="32004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User Inputs</a:t>
            </a:r>
            <a:endParaRPr lang="en-US" sz="1500" dirty="0"/>
          </a:p>
        </p:txBody>
      </p:sp>
      <p:sp>
        <p:nvSpPr>
          <p:cNvPr id="7" name="Text 4"/>
          <p:cNvSpPr/>
          <p:nvPr/>
        </p:nvSpPr>
        <p:spPr>
          <a:xfrm>
            <a:off x="548640" y="1920240"/>
            <a:ext cx="5669280" cy="1600200"/>
          </a:xfrm>
          <a:prstGeom prst="rect">
            <a:avLst/>
          </a:prstGeom>
          <a:noFill/>
        </p:spPr>
        <p:txBody>
          <a:bodyPr wrap="square" rtlCol="0" anchor="ctr"/>
          <a:lstStyle/>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Company</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Model</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Year</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Kilometers driven</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Fuel type</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Seller type</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Transmission</a:t>
            </a:r>
            <a:endParaRPr lang="en-US" sz="1150" dirty="0"/>
          </a:p>
          <a:p>
            <a:pPr marL="342900" indent="-342900">
              <a:lnSpc>
                <a:spcPct val="100000"/>
              </a:lnSpc>
              <a:spcAft>
                <a:spcPts val="200"/>
              </a:spcAft>
              <a:buSzPct val="100000"/>
              <a:buChar char="•"/>
            </a:pPr>
            <a:r>
              <a:rPr lang="en-US" sz="1150" dirty="0">
                <a:solidFill>
                  <a:srgbClr val="232B45"/>
                </a:solidFill>
                <a:latin typeface="Calibri" panose="020F0502020204030204" pitchFamily="34" charset="0"/>
                <a:ea typeface="Calibri" panose="020F0502020204030204" pitchFamily="34" charset="-122"/>
                <a:cs typeface="Calibri" panose="020F0502020204030204" pitchFamily="34" charset="-120"/>
              </a:rPr>
              <a:t>Owner</a:t>
            </a:r>
            <a:endParaRPr lang="en-US" sz="1150" dirty="0"/>
          </a:p>
        </p:txBody>
      </p:sp>
      <p:sp>
        <p:nvSpPr>
          <p:cNvPr id="8" name="Shape 5"/>
          <p:cNvSpPr/>
          <p:nvPr/>
        </p:nvSpPr>
        <p:spPr>
          <a:xfrm>
            <a:off x="548640" y="3703320"/>
            <a:ext cx="5669280" cy="2743200"/>
          </a:xfrm>
          <a:prstGeom prst="roundRect">
            <a:avLst>
              <a:gd name="adj" fmla="val 2333"/>
            </a:avLst>
          </a:prstGeom>
          <a:solidFill>
            <a:srgbClr val="1E2761"/>
          </a:solidFill>
        </p:spPr>
      </p:sp>
      <p:pic>
        <p:nvPicPr>
          <p:cNvPr id="9" name="Image 1" descr="/home/claude/work/icons/laptop_white.png"/>
          <p:cNvPicPr>
            <a:picLocks noChangeAspect="1"/>
          </p:cNvPicPr>
          <p:nvPr/>
        </p:nvPicPr>
        <p:blipFill>
          <a:blip r:embed="rId2"/>
          <a:stretch>
            <a:fillRect/>
          </a:stretch>
        </p:blipFill>
        <p:spPr>
          <a:xfrm>
            <a:off x="777240" y="3931920"/>
            <a:ext cx="347472" cy="347472"/>
          </a:xfrm>
          <a:prstGeom prst="rect">
            <a:avLst/>
          </a:prstGeom>
        </p:spPr>
      </p:pic>
      <p:sp>
        <p:nvSpPr>
          <p:cNvPr id="10" name="Text 6"/>
          <p:cNvSpPr/>
          <p:nvPr/>
        </p:nvSpPr>
        <p:spPr>
          <a:xfrm>
            <a:off x="1234440" y="3941064"/>
            <a:ext cx="4114800" cy="32004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How it works</a:t>
            </a:r>
            <a:endParaRPr lang="en-US" sz="1400" dirty="0"/>
          </a:p>
        </p:txBody>
      </p:sp>
      <p:sp>
        <p:nvSpPr>
          <p:cNvPr id="11" name="Text 7"/>
          <p:cNvSpPr/>
          <p:nvPr/>
        </p:nvSpPr>
        <p:spPr>
          <a:xfrm>
            <a:off x="822960" y="4434840"/>
            <a:ext cx="5120640" cy="1280160"/>
          </a:xfrm>
          <a:prstGeom prst="rect">
            <a:avLst/>
          </a:prstGeom>
          <a:noFill/>
        </p:spPr>
        <p:txBody>
          <a:bodyPr wrap="square" rtlCol="0" anchor="ctr"/>
          <a:lstStyle/>
          <a:p>
            <a:pPr marL="0" indent="0">
              <a:lnSpc>
                <a:spcPct val="130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The user enters car details and clicks Predict Price. The app runs the saved preprocessing pipeline, feeds the result to the saved CatBoost model, and displays the estimated selling price instantly.</a:t>
            </a:r>
            <a:endParaRPr lang="en-US" sz="1200" dirty="0"/>
          </a:p>
        </p:txBody>
      </p:sp>
      <p:sp>
        <p:nvSpPr>
          <p:cNvPr id="12" name="Text 8"/>
          <p:cNvSpPr/>
          <p:nvPr/>
        </p:nvSpPr>
        <p:spPr>
          <a:xfrm>
            <a:off x="822960" y="5852160"/>
            <a:ext cx="5120640" cy="365760"/>
          </a:xfrm>
          <a:prstGeom prst="rect">
            <a:avLst/>
          </a:prstGeom>
          <a:noFill/>
        </p:spPr>
        <p:txBody>
          <a:bodyPr wrap="square" rtlCol="0" anchor="ctr"/>
          <a:lstStyle/>
          <a:p>
            <a:pPr marL="0" indent="0">
              <a:buNone/>
            </a:pPr>
            <a:r>
              <a:rPr lang="en-US" sz="1300" b="1" dirty="0">
                <a:solidFill>
                  <a:srgbClr val="F2A93B"/>
                </a:solidFill>
                <a:latin typeface="Calibri" panose="020F0502020204030204" pitchFamily="34" charset="0"/>
                <a:ea typeface="Calibri" panose="020F0502020204030204" pitchFamily="34" charset="-122"/>
                <a:cs typeface="Calibri" panose="020F0502020204030204" pitchFamily="34" charset="-120"/>
              </a:rPr>
              <a:t>Example output: $11,929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pic>
        <p:nvPicPr>
          <p:cNvPr id="2" name="Image 0" descr="/home/claude/work/icons/road_navy.png"/>
          <p:cNvPicPr>
            <a:picLocks noChangeAspect="1"/>
          </p:cNvPicPr>
          <p:nvPr/>
        </p:nvPicPr>
        <p:blipFill>
          <a:blip r:embed="rId1">
            <a:alphaModFix amt="45000"/>
          </a:blip>
          <a:stretch>
            <a:fillRect/>
          </a:stretch>
        </p:blipFill>
        <p:spPr>
          <a:xfrm>
            <a:off x="8869680" y="4297680"/>
            <a:ext cx="2834640" cy="2834640"/>
          </a:xfrm>
          <a:prstGeom prst="rect">
            <a:avLst/>
          </a:prstGeom>
        </p:spPr>
      </p:pic>
      <p:sp>
        <p:nvSpPr>
          <p:cNvPr id="3" name="Text 0"/>
          <p:cNvSpPr/>
          <p:nvPr/>
        </p:nvSpPr>
        <p:spPr>
          <a:xfrm>
            <a:off x="640080" y="640080"/>
            <a:ext cx="7315200" cy="64008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3400" dirty="0"/>
          </a:p>
        </p:txBody>
      </p:sp>
      <p:sp>
        <p:nvSpPr>
          <p:cNvPr id="4" name="Text 1"/>
          <p:cNvSpPr/>
          <p:nvPr/>
        </p:nvSpPr>
        <p:spPr>
          <a:xfrm>
            <a:off x="640080" y="1554480"/>
            <a:ext cx="6675120" cy="1645920"/>
          </a:xfrm>
          <a:prstGeom prst="rect">
            <a:avLst/>
          </a:prstGeom>
          <a:noFill/>
        </p:spPr>
        <p:txBody>
          <a:bodyPr wrap="square" rtlCol="0" anchor="ctr"/>
          <a:lstStyle/>
          <a:p>
            <a:pPr marL="0" indent="0">
              <a:lnSpc>
                <a:spcPct val="135000"/>
              </a:lnSpc>
              <a:buNone/>
            </a:pPr>
            <a:r>
              <a:rPr lang="en-US" sz="1500" b="1" dirty="0">
                <a:solidFill>
                  <a:srgbClr val="F2A93B"/>
                </a:solidFill>
                <a:latin typeface="Calibri" panose="020F0502020204030204" pitchFamily="34" charset="0"/>
                <a:ea typeface="Calibri" panose="020F0502020204030204" pitchFamily="34" charset="-122"/>
                <a:cs typeface="Calibri" panose="020F0502020204030204" pitchFamily="34" charset="-120"/>
              </a:rPr>
              <a:t>A complete ML pipeline — from raw data to a usable app.
</a:t>
            </a:r>
            <a:endParaRPr lang="en-US" sz="1500" dirty="0"/>
          </a:p>
          <a:p>
            <a:pPr marL="0" indent="0">
              <a:lnSpc>
                <a:spcPct val="135000"/>
              </a:lnSpc>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The dataset was cleaned and explored, four regression models were trained and evaluated, and the best model was deployed in an interactive Streamlit application.</a:t>
            </a:r>
            <a:endParaRPr lang="en-US" sz="1500" dirty="0"/>
          </a:p>
        </p:txBody>
      </p:sp>
      <p:sp>
        <p:nvSpPr>
          <p:cNvPr id="5" name="Shape 2"/>
          <p:cNvSpPr/>
          <p:nvPr/>
        </p:nvSpPr>
        <p:spPr>
          <a:xfrm>
            <a:off x="640080" y="3520440"/>
            <a:ext cx="2148840" cy="1417320"/>
          </a:xfrm>
          <a:prstGeom prst="roundRect">
            <a:avLst>
              <a:gd name="adj" fmla="val 5161"/>
            </a:avLst>
          </a:prstGeom>
          <a:solidFill>
            <a:srgbClr val="263173"/>
          </a:solidFill>
        </p:spPr>
      </p:sp>
      <p:sp>
        <p:nvSpPr>
          <p:cNvPr id="6" name="Text 3"/>
          <p:cNvSpPr/>
          <p:nvPr/>
        </p:nvSpPr>
        <p:spPr>
          <a:xfrm>
            <a:off x="640080" y="3639312"/>
            <a:ext cx="214884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0.7556</a:t>
            </a:r>
            <a:endParaRPr lang="en-US" sz="2200" dirty="0"/>
          </a:p>
        </p:txBody>
      </p:sp>
      <p:sp>
        <p:nvSpPr>
          <p:cNvPr id="7" name="Text 4"/>
          <p:cNvSpPr/>
          <p:nvPr/>
        </p:nvSpPr>
        <p:spPr>
          <a:xfrm>
            <a:off x="640080" y="4251960"/>
            <a:ext cx="2148840" cy="548640"/>
          </a:xfrm>
          <a:prstGeom prst="rect">
            <a:avLst/>
          </a:prstGeom>
          <a:noFill/>
        </p:spPr>
        <p:txBody>
          <a:bodyPr wrap="square"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Best R² — CatBoost</a:t>
            </a:r>
            <a:endParaRPr lang="en-US" sz="1050" dirty="0"/>
          </a:p>
        </p:txBody>
      </p:sp>
      <p:sp>
        <p:nvSpPr>
          <p:cNvPr id="8" name="Shape 5"/>
          <p:cNvSpPr/>
          <p:nvPr/>
        </p:nvSpPr>
        <p:spPr>
          <a:xfrm>
            <a:off x="2971800" y="3520440"/>
            <a:ext cx="2148840" cy="1417320"/>
          </a:xfrm>
          <a:prstGeom prst="roundRect">
            <a:avLst>
              <a:gd name="adj" fmla="val 5161"/>
            </a:avLst>
          </a:prstGeom>
          <a:solidFill>
            <a:srgbClr val="263173"/>
          </a:solidFill>
        </p:spPr>
      </p:sp>
      <p:sp>
        <p:nvSpPr>
          <p:cNvPr id="9" name="Text 6"/>
          <p:cNvSpPr/>
          <p:nvPr/>
        </p:nvSpPr>
        <p:spPr>
          <a:xfrm>
            <a:off x="2971800" y="3639312"/>
            <a:ext cx="214884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3132.27</a:t>
            </a:r>
            <a:endParaRPr lang="en-US" sz="2200" dirty="0"/>
          </a:p>
        </p:txBody>
      </p:sp>
      <p:sp>
        <p:nvSpPr>
          <p:cNvPr id="10" name="Text 7"/>
          <p:cNvSpPr/>
          <p:nvPr/>
        </p:nvSpPr>
        <p:spPr>
          <a:xfrm>
            <a:off x="2971800" y="4251960"/>
            <a:ext cx="2148840" cy="548640"/>
          </a:xfrm>
          <a:prstGeom prst="rect">
            <a:avLst/>
          </a:prstGeom>
          <a:noFill/>
        </p:spPr>
        <p:txBody>
          <a:bodyPr wrap="square"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Lowest RMSE</a:t>
            </a:r>
            <a:endParaRPr lang="en-US" sz="1050" dirty="0"/>
          </a:p>
        </p:txBody>
      </p:sp>
      <p:sp>
        <p:nvSpPr>
          <p:cNvPr id="11" name="Shape 8"/>
          <p:cNvSpPr/>
          <p:nvPr/>
        </p:nvSpPr>
        <p:spPr>
          <a:xfrm>
            <a:off x="5303520" y="3520440"/>
            <a:ext cx="2148840" cy="1417320"/>
          </a:xfrm>
          <a:prstGeom prst="roundRect">
            <a:avLst>
              <a:gd name="adj" fmla="val 5161"/>
            </a:avLst>
          </a:prstGeom>
          <a:solidFill>
            <a:srgbClr val="263173"/>
          </a:solidFill>
        </p:spPr>
      </p:sp>
      <p:sp>
        <p:nvSpPr>
          <p:cNvPr id="12" name="Text 9"/>
          <p:cNvSpPr/>
          <p:nvPr/>
        </p:nvSpPr>
        <p:spPr>
          <a:xfrm>
            <a:off x="5303520" y="3639312"/>
            <a:ext cx="214884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sp>
        <p:nvSpPr>
          <p:cNvPr id="13" name="Text 10"/>
          <p:cNvSpPr/>
          <p:nvPr/>
        </p:nvSpPr>
        <p:spPr>
          <a:xfrm>
            <a:off x="5303520" y="4251960"/>
            <a:ext cx="2148840" cy="548640"/>
          </a:xfrm>
          <a:prstGeom prst="rect">
            <a:avLst/>
          </a:prstGeom>
          <a:noFill/>
        </p:spPr>
        <p:txBody>
          <a:bodyPr wrap="square"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Models compared</a:t>
            </a:r>
            <a:endParaRPr lang="en-US" sz="1050" dirty="0"/>
          </a:p>
        </p:txBody>
      </p:sp>
      <p:sp>
        <p:nvSpPr>
          <p:cNvPr id="14" name="Text 11"/>
          <p:cNvSpPr/>
          <p:nvPr/>
        </p:nvSpPr>
        <p:spPr>
          <a:xfrm>
            <a:off x="640080" y="5257800"/>
            <a:ext cx="7680960" cy="914400"/>
          </a:xfrm>
          <a:prstGeom prst="rect">
            <a:avLst/>
          </a:prstGeom>
          <a:noFill/>
        </p:spPr>
        <p:txBody>
          <a:bodyPr wrap="square" rtlCol="0" anchor="ctr"/>
          <a:lstStyle/>
          <a:p>
            <a:pPr marL="0" indent="0">
              <a:lnSpc>
                <a:spcPct val="130000"/>
              </a:lnSpc>
              <a:buNone/>
            </a:pPr>
            <a:r>
              <a:rPr lang="en-US" sz="1400" i="1" dirty="0">
                <a:solidFill>
                  <a:srgbClr val="FFFFFF"/>
                </a:solidFill>
                <a:latin typeface="Calibri" panose="020F0502020204030204" pitchFamily="34" charset="0"/>
                <a:ea typeface="Calibri" panose="020F0502020204030204" pitchFamily="34" charset="-122"/>
                <a:cs typeface="Calibri" panose="020F0502020204030204" pitchFamily="34" charset="-120"/>
              </a:rPr>
              <a:t>Practical takeaway: machine learning can reliably estimate used-car prices from everyday listing details, and a simple GUI makes that capability accessible to non-technical users.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3677</Words>
  <Application>WPS Presentation</Application>
  <PresentationFormat>On-screen Show (16:9)</PresentationFormat>
  <Paragraphs>201</Paragraphs>
  <Slides>10</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vt:i4>
      </vt:variant>
    </vt:vector>
  </HeadingPairs>
  <TitlesOfParts>
    <vt:vector size="24" baseType="lpstr">
      <vt:lpstr>Arial</vt:lpstr>
      <vt:lpstr>SimSun</vt:lpstr>
      <vt:lpstr>Wingdings</vt:lpstr>
      <vt:lpstr>Calibri</vt:lpstr>
      <vt:lpstr>Calibri</vt:lpstr>
      <vt:lpstr>Calibri</vt:lpstr>
      <vt:lpstr>Cambria</vt:lpstr>
      <vt:lpstr>Cambria</vt:lpstr>
      <vt:lpstr>Cambria</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rawaa hasan</cp:lastModifiedBy>
  <cp:revision>3</cp:revision>
  <dcterms:created xsi:type="dcterms:W3CDTF">2026-08-22T18:09:00Z</dcterms:created>
  <dcterms:modified xsi:type="dcterms:W3CDTF">2026-09-23T13:58:18Z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917F744211F34C6CACE0260B7ED30663_12</vt:lpwstr>
  </property>
</Properties>
</file>